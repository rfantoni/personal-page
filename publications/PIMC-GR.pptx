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60" r:id="rId4"/>
    <p:sldId id="273" r:id="rId5"/>
    <p:sldId id="262" r:id="rId6"/>
    <p:sldId id="274" r:id="rId7"/>
    <p:sldId id="264" r:id="rId8"/>
    <p:sldId id="263" r:id="rId9"/>
    <p:sldId id="275" r:id="rId10"/>
    <p:sldId id="276" r:id="rId11"/>
    <p:sldId id="279" r:id="rId12"/>
    <p:sldId id="277" r:id="rId13"/>
    <p:sldId id="278" r:id="rId14"/>
    <p:sldId id="281" r:id="rId15"/>
    <p:sldId id="280" r:id="rId16"/>
    <p:sldId id="285" r:id="rId17"/>
    <p:sldId id="282" r:id="rId18"/>
    <p:sldId id="283" r:id="rId19"/>
    <p:sldId id="284" r:id="rId20"/>
    <p:sldId id="286"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3" autoAdjust="0"/>
    <p:restoredTop sz="94692" autoAdjust="0"/>
  </p:normalViewPr>
  <p:slideViewPr>
    <p:cSldViewPr snapToGrid="0">
      <p:cViewPr varScale="1">
        <p:scale>
          <a:sx n="88" d="100"/>
          <a:sy n="88" d="100"/>
        </p:scale>
        <p:origin x="588"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9AB31D-E899-6315-52ED-CFC14E9F8618}"/>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CCBC12C6-C83F-BBFC-67DC-45B3A55383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1B1D3BC-2B9F-B99D-55FA-195F6FDDE02C}"/>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5" name="Segnaposto piè di pagina 4">
            <a:extLst>
              <a:ext uri="{FF2B5EF4-FFF2-40B4-BE49-F238E27FC236}">
                <a16:creationId xmlns:a16="http://schemas.microsoft.com/office/drawing/2014/main" id="{62223F48-1527-152D-A5DA-4B89D3A7E72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2CDB34B-FC5A-1C7A-5DC8-C9B113879119}"/>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1704162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94933AB-9323-7EAB-F186-269682D676A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4069B63-5EDE-A269-79D3-76DFFAF27FDF}"/>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C7D4D8D-2820-6453-DD45-ECB6C9BC6F05}"/>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5" name="Segnaposto piè di pagina 4">
            <a:extLst>
              <a:ext uri="{FF2B5EF4-FFF2-40B4-BE49-F238E27FC236}">
                <a16:creationId xmlns:a16="http://schemas.microsoft.com/office/drawing/2014/main" id="{299AAEC3-2D4A-EDC7-D11C-4521F1206CA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2C4F394-B41F-C884-666F-2DED589B6D71}"/>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42178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4CCBE73-1418-DC8E-127C-CA5FAA1934AF}"/>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42A78E8-8416-45A6-05FE-1808341BDF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CBFF7F6F-7F99-0A98-A13F-DD8C9FEA90FC}"/>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5" name="Segnaposto piè di pagina 4">
            <a:extLst>
              <a:ext uri="{FF2B5EF4-FFF2-40B4-BE49-F238E27FC236}">
                <a16:creationId xmlns:a16="http://schemas.microsoft.com/office/drawing/2014/main" id="{912CAB3D-060B-09C5-0E16-93B5EE04611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5ED15B2-55BB-212B-6EA3-596B26169D31}"/>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3323050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1F3344-0CF1-A601-1490-935D0B3484B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D76F8A0-F880-353C-1179-D4B8B8567DC7}"/>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45E246A-8FE5-D581-A5AE-0A7F690145A9}"/>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A9E3E3BE-BDB8-2D16-035B-878FBBF352EB}"/>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6" name="Segnaposto piè di pagina 5">
            <a:extLst>
              <a:ext uri="{FF2B5EF4-FFF2-40B4-BE49-F238E27FC236}">
                <a16:creationId xmlns:a16="http://schemas.microsoft.com/office/drawing/2014/main" id="{DB717448-70F5-F5B1-72FC-B70694CCFAE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C1582BD-3B0E-CCFA-0313-FF12FC354F0E}"/>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285151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F0CDA11-CEE4-7D48-5CD7-1D148C440BF6}"/>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C5D30DB-C975-E788-9E97-3E76BCCFE5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B24D6E6-61FE-2F00-0CDB-AFC7B37C3A1D}"/>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ED3E1113-B1F1-041C-A633-DBD9940C7E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DCE959A-6A1B-E473-AA2C-11B1D29034B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0C2C4686-2690-0E6C-676A-09D8FDC60CEF}"/>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8" name="Segnaposto piè di pagina 7">
            <a:extLst>
              <a:ext uri="{FF2B5EF4-FFF2-40B4-BE49-F238E27FC236}">
                <a16:creationId xmlns:a16="http://schemas.microsoft.com/office/drawing/2014/main" id="{1171050F-E420-206F-4993-B94AE26B3796}"/>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0CA19EF6-8A2C-6142-52B4-99B7C2816239}"/>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2945304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26F9EE-7EB2-08E6-3874-CD2A40D17BF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DF0D60E5-A40A-8928-4144-AD8AF478EBE8}"/>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4" name="Segnaposto piè di pagina 3">
            <a:extLst>
              <a:ext uri="{FF2B5EF4-FFF2-40B4-BE49-F238E27FC236}">
                <a16:creationId xmlns:a16="http://schemas.microsoft.com/office/drawing/2014/main" id="{A6DDA546-A5CA-9BE7-1423-F930E2AC5C1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0DA3E1E6-96CC-FC47-4214-A6AFFFADB60F}"/>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2569784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ED2FE2A-7033-52FC-34DC-4C39C9F0E3FE}"/>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3" name="Segnaposto piè di pagina 2">
            <a:extLst>
              <a:ext uri="{FF2B5EF4-FFF2-40B4-BE49-F238E27FC236}">
                <a16:creationId xmlns:a16="http://schemas.microsoft.com/office/drawing/2014/main" id="{92398ADC-D9E4-860D-F617-68BF4A6FBFC9}"/>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475E81A-F0F3-5070-41C3-8CA4DDC3D585}"/>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4154889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2A282EE-D904-51FA-F962-E4A30727F1B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A5E53B7-99B1-1B0A-3C4C-0A0EF3020D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3A6E5629-7894-F05E-0583-71C5B430EB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4E9A0046-BB4F-228B-680D-7B2BC3EF832D}"/>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6" name="Segnaposto piè di pagina 5">
            <a:extLst>
              <a:ext uri="{FF2B5EF4-FFF2-40B4-BE49-F238E27FC236}">
                <a16:creationId xmlns:a16="http://schemas.microsoft.com/office/drawing/2014/main" id="{E395835E-0853-8EF0-C4CD-56BB0BEC85D9}"/>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5FBFE96-5CE8-681B-CF22-AA1AFCAFDEF4}"/>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2570612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A091DA-A961-AEC1-82E9-518A2C580E5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5703C29-725F-5283-A164-DC119D17A3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A48499F4-7BC8-FD53-332E-CEA93EB9E9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41DB81C3-11E6-84EB-E7FD-61AEC5DEF67F}"/>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6" name="Segnaposto piè di pagina 5">
            <a:extLst>
              <a:ext uri="{FF2B5EF4-FFF2-40B4-BE49-F238E27FC236}">
                <a16:creationId xmlns:a16="http://schemas.microsoft.com/office/drawing/2014/main" id="{0275A1B7-CD68-BC55-5B23-14BCEA23E50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61357E6-102A-723A-AFA1-4A15BCDBC17D}"/>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1324801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D2E7B9-1BE0-1F19-CE92-5651C42EB2A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69D3CA0-2170-96D8-2A2B-F116362C68B0}"/>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41C614D-F222-AE12-A283-3FAD2330F9DB}"/>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5" name="Segnaposto piè di pagina 4">
            <a:extLst>
              <a:ext uri="{FF2B5EF4-FFF2-40B4-BE49-F238E27FC236}">
                <a16:creationId xmlns:a16="http://schemas.microsoft.com/office/drawing/2014/main" id="{F4FC53D0-36D6-7E48-3CB9-0F782256AE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1732701-5639-40A5-9486-FF9E33CDBA2D}"/>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4092584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65A9A6D-3E67-D849-5815-F623D3F45A1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7016E6C-5C6B-9EEB-CC7A-57161C3F21F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8BB6A31-092A-2E16-C627-84390E235935}"/>
              </a:ext>
            </a:extLst>
          </p:cNvPr>
          <p:cNvSpPr>
            <a:spLocks noGrp="1"/>
          </p:cNvSpPr>
          <p:nvPr>
            <p:ph type="dt" sz="half" idx="10"/>
          </p:nvPr>
        </p:nvSpPr>
        <p:spPr/>
        <p:txBody>
          <a:bodyPr/>
          <a:lstStyle/>
          <a:p>
            <a:fld id="{E627BC06-53EE-489F-83F8-55E36CEADF55}" type="datetimeFigureOut">
              <a:rPr lang="it-IT" smtClean="0"/>
              <a:t>22/09/2026</a:t>
            </a:fld>
            <a:endParaRPr lang="it-IT"/>
          </a:p>
        </p:txBody>
      </p:sp>
      <p:sp>
        <p:nvSpPr>
          <p:cNvPr id="5" name="Segnaposto piè di pagina 4">
            <a:extLst>
              <a:ext uri="{FF2B5EF4-FFF2-40B4-BE49-F238E27FC236}">
                <a16:creationId xmlns:a16="http://schemas.microsoft.com/office/drawing/2014/main" id="{BC212514-9532-68A1-AE8B-FC014C4F5D9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1CBCA74-8D2A-194F-8E82-4A1858E29FD7}"/>
              </a:ext>
            </a:extLst>
          </p:cNvPr>
          <p:cNvSpPr>
            <a:spLocks noGrp="1"/>
          </p:cNvSpPr>
          <p:nvPr>
            <p:ph type="sldNum" sz="quarter" idx="12"/>
          </p:nvPr>
        </p:nvSpPr>
        <p:spPr/>
        <p:txBody>
          <a:bodyPr/>
          <a:lstStyle/>
          <a:p>
            <a:fld id="{2914369B-DDAE-4DE7-B330-4C4CBCDDF40F}" type="slidenum">
              <a:rPr lang="it-IT" smtClean="0"/>
              <a:t>‹#›</a:t>
            </a:fld>
            <a:endParaRPr lang="it-IT"/>
          </a:p>
        </p:txBody>
      </p:sp>
    </p:spTree>
    <p:extLst>
      <p:ext uri="{BB962C8B-B14F-4D97-AF65-F5344CB8AC3E}">
        <p14:creationId xmlns:p14="http://schemas.microsoft.com/office/powerpoint/2010/main" val="4143069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032C6AE-61E4-E88F-75DF-DB8593B0A1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328EDBD-9B72-4E07-18D2-AC431E3DD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D7FAB80-F8C0-306B-324C-6CEFFFF2D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27BC06-53EE-489F-83F8-55E36CEADF55}" type="datetimeFigureOut">
              <a:rPr lang="it-IT" smtClean="0"/>
              <a:t>22/09/2026</a:t>
            </a:fld>
            <a:endParaRPr lang="it-IT"/>
          </a:p>
        </p:txBody>
      </p:sp>
      <p:sp>
        <p:nvSpPr>
          <p:cNvPr id="5" name="Segnaposto piè di pagina 4">
            <a:extLst>
              <a:ext uri="{FF2B5EF4-FFF2-40B4-BE49-F238E27FC236}">
                <a16:creationId xmlns:a16="http://schemas.microsoft.com/office/drawing/2014/main" id="{9B712E44-422A-CD36-7ACE-DD2B1B717C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A2F0AE13-318E-DA7B-FEB0-F6FF35BDF7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14369B-DDAE-4DE7-B330-4C4CBCDDF40F}" type="slidenum">
              <a:rPr lang="it-IT" smtClean="0"/>
              <a:t>‹#›</a:t>
            </a:fld>
            <a:endParaRPr lang="it-IT"/>
          </a:p>
        </p:txBody>
      </p:sp>
      <p:sp>
        <p:nvSpPr>
          <p:cNvPr id="8" name="CasellaDiTesto 7">
            <a:extLst>
              <a:ext uri="{FF2B5EF4-FFF2-40B4-BE49-F238E27FC236}">
                <a16:creationId xmlns:a16="http://schemas.microsoft.com/office/drawing/2014/main" id="{60917A7E-56DC-543C-AC41-DA4DCDF9F4B0}"/>
              </a:ext>
            </a:extLst>
          </p:cNvPr>
          <p:cNvSpPr txBox="1"/>
          <p:nvPr userDrawn="1"/>
        </p:nvSpPr>
        <p:spPr>
          <a:xfrm>
            <a:off x="265682" y="250825"/>
            <a:ext cx="11660636" cy="6356350"/>
          </a:xfrm>
          <a:prstGeom prst="rect">
            <a:avLst/>
          </a:prstGeom>
          <a:noFill/>
          <a:ln w="85725">
            <a:solidFill>
              <a:srgbClr val="8A0000"/>
            </a:solidFill>
          </a:ln>
        </p:spPr>
        <p:txBody>
          <a:bodyPr wrap="square" rtlCol="0">
            <a:spAutoFit/>
          </a:bodyPr>
          <a:lstStyle/>
          <a:p>
            <a:endParaRPr lang="it-IT" dirty="0"/>
          </a:p>
        </p:txBody>
      </p:sp>
    </p:spTree>
    <p:extLst>
      <p:ext uri="{BB962C8B-B14F-4D97-AF65-F5344CB8AC3E}">
        <p14:creationId xmlns:p14="http://schemas.microsoft.com/office/powerpoint/2010/main" val="22121408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79A14C9-C875-9EDD-8556-96E02F8BC5FC}"/>
              </a:ext>
            </a:extLst>
          </p:cNvPr>
          <p:cNvSpPr txBox="1"/>
          <p:nvPr/>
        </p:nvSpPr>
        <p:spPr>
          <a:xfrm>
            <a:off x="3198891" y="555558"/>
            <a:ext cx="5277279" cy="523220"/>
          </a:xfrm>
          <a:prstGeom prst="rect">
            <a:avLst/>
          </a:prstGeom>
          <a:noFill/>
        </p:spPr>
        <p:txBody>
          <a:bodyPr wrap="none" rtlCol="0">
            <a:spAutoFit/>
          </a:bodyPr>
          <a:lstStyle/>
          <a:p>
            <a:r>
              <a:rPr lang="en-US" sz="2800" b="1" noProof="0" dirty="0"/>
              <a:t>Two kinds of thought experiments</a:t>
            </a:r>
          </a:p>
        </p:txBody>
      </p:sp>
      <p:sp>
        <p:nvSpPr>
          <p:cNvPr id="2" name="CasellaDiTesto 1">
            <a:extLst>
              <a:ext uri="{FF2B5EF4-FFF2-40B4-BE49-F238E27FC236}">
                <a16:creationId xmlns:a16="http://schemas.microsoft.com/office/drawing/2014/main" id="{06457E11-61ED-7B55-5026-53602E03EF65}"/>
              </a:ext>
            </a:extLst>
          </p:cNvPr>
          <p:cNvSpPr txBox="1"/>
          <p:nvPr/>
        </p:nvSpPr>
        <p:spPr>
          <a:xfrm>
            <a:off x="1404258" y="1404256"/>
            <a:ext cx="9350827" cy="3139321"/>
          </a:xfrm>
          <a:prstGeom prst="rect">
            <a:avLst/>
          </a:prstGeom>
          <a:noFill/>
        </p:spPr>
        <p:txBody>
          <a:bodyPr wrap="square" rtlCol="0">
            <a:spAutoFit/>
          </a:bodyPr>
          <a:lstStyle/>
          <a:p>
            <a:pPr algn="just"/>
            <a:r>
              <a:rPr lang="en-US" noProof="0" dirty="0"/>
              <a:t>A thought experiment is necessary when you cannot do a real experiment. This usually is very useful to determine which are the logical consequences of a physical theory under extreme conditions that are not accessible through measurement instruments. Examples are the cat paradox of Schrödinger or the entanglement property of two electrons of opposite spin that when created at the same spatial point are then brought light years apart. But  a weaker example of a thought experiment is one where it is not available the real experiment but nonetheless is available the computer experiment. This often happens since given a mathematical model of a physical system the simulation does not have any of the restrictions posed by the manufacturing of laboratory instruments necessary to probe the real physical system just modeled. </a:t>
            </a:r>
          </a:p>
          <a:p>
            <a:pPr algn="just"/>
            <a:endParaRPr lang="en-US" noProof="0" dirty="0"/>
          </a:p>
          <a:p>
            <a:pPr algn="just"/>
            <a:r>
              <a:rPr lang="en-US" noProof="0" dirty="0"/>
              <a:t>In the following we will worry about this second weak experiment.</a:t>
            </a:r>
          </a:p>
        </p:txBody>
      </p:sp>
    </p:spTree>
    <p:extLst>
      <p:ext uri="{BB962C8B-B14F-4D97-AF65-F5344CB8AC3E}">
        <p14:creationId xmlns:p14="http://schemas.microsoft.com/office/powerpoint/2010/main" val="2896215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1D53B1-3A03-3CB1-03E1-AF8C1C84C602}"/>
              </a:ext>
            </a:extLst>
          </p:cNvPr>
          <p:cNvSpPr txBox="1"/>
          <p:nvPr/>
        </p:nvSpPr>
        <p:spPr>
          <a:xfrm>
            <a:off x="3755006" y="729343"/>
            <a:ext cx="4681987" cy="523220"/>
          </a:xfrm>
          <a:prstGeom prst="rect">
            <a:avLst/>
          </a:prstGeom>
          <a:noFill/>
        </p:spPr>
        <p:txBody>
          <a:bodyPr wrap="none" rtlCol="0">
            <a:spAutoFit/>
          </a:bodyPr>
          <a:lstStyle/>
          <a:p>
            <a:r>
              <a:rPr lang="en-US" sz="2800" b="1" noProof="0" dirty="0"/>
              <a:t>The weak thought experiment</a:t>
            </a:r>
          </a:p>
        </p:txBody>
      </p:sp>
      <p:sp>
        <p:nvSpPr>
          <p:cNvPr id="3" name="TextBox 2">
            <a:extLst>
              <a:ext uri="{FF2B5EF4-FFF2-40B4-BE49-F238E27FC236}">
                <a16:creationId xmlns:a16="http://schemas.microsoft.com/office/drawing/2014/main" id="{79B3DD0F-7D24-6B73-4B3E-C4EFD8144F00}"/>
              </a:ext>
            </a:extLst>
          </p:cNvPr>
          <p:cNvSpPr txBox="1"/>
          <p:nvPr/>
        </p:nvSpPr>
        <p:spPr>
          <a:xfrm>
            <a:off x="1055914" y="1643743"/>
            <a:ext cx="10047515" cy="4247317"/>
          </a:xfrm>
          <a:prstGeom prst="rect">
            <a:avLst/>
          </a:prstGeom>
          <a:noFill/>
        </p:spPr>
        <p:txBody>
          <a:bodyPr wrap="square" rtlCol="0">
            <a:spAutoFit/>
          </a:bodyPr>
          <a:lstStyle/>
          <a:p>
            <a:pPr algn="just"/>
            <a:r>
              <a:rPr lang="en-US" noProof="0" dirty="0"/>
              <a:t>The weak thought experiment has been very useful to probe new mathematical structures like the Feynmann path integral. For example a way to realize the mathematical consequences of the path integral is to think as if you were doing a computer experiment.</a:t>
            </a:r>
          </a:p>
          <a:p>
            <a:pPr algn="just"/>
            <a:endParaRPr lang="en-US" noProof="0" dirty="0"/>
          </a:p>
          <a:p>
            <a:pPr algn="just"/>
            <a:r>
              <a:rPr lang="en-US" noProof="0" dirty="0"/>
              <a:t>The weak thought experiment that Feynmann proposed as a mental exercise has been later put in practice as a computer exercise. A pioneer in this transcription has been David. M. </a:t>
            </a:r>
            <a:r>
              <a:rPr lang="en-US" noProof="0" dirty="0" err="1"/>
              <a:t>Ceperley</a:t>
            </a:r>
            <a:r>
              <a:rPr lang="en-US" noProof="0" dirty="0"/>
              <a:t> in his [2] Review of Modern Physics </a:t>
            </a:r>
            <a:r>
              <a:rPr lang="en-US" b="1" noProof="0" dirty="0"/>
              <a:t>67</a:t>
            </a:r>
            <a:r>
              <a:rPr lang="en-US" noProof="0" dirty="0"/>
              <a:t>, 279 (1995).</a:t>
            </a:r>
          </a:p>
          <a:p>
            <a:pPr algn="just"/>
            <a:endParaRPr lang="en-US" noProof="0" dirty="0"/>
          </a:p>
          <a:p>
            <a:pPr algn="just"/>
            <a:r>
              <a:rPr lang="en-US" noProof="0" dirty="0"/>
              <a:t>But a weak thought experiment can become very useful also when the experimental data are so indirect as in astrophysical observations. In these case the mathematical model itself can only be thought as a meaningful one, it can be solved by a computer experiment, and the results compared with the astrophysical observations. </a:t>
            </a:r>
          </a:p>
          <a:p>
            <a:pPr algn="just"/>
            <a:endParaRPr lang="en-US" noProof="0" dirty="0"/>
          </a:p>
          <a:p>
            <a:pPr algn="just"/>
            <a:r>
              <a:rPr lang="en-US" noProof="0" dirty="0"/>
              <a:t>In the following we will worry about a particular weak experiment to determine the thermodynamic and structural properties of a white dwarf.</a:t>
            </a:r>
          </a:p>
        </p:txBody>
      </p:sp>
    </p:spTree>
    <p:extLst>
      <p:ext uri="{BB962C8B-B14F-4D97-AF65-F5344CB8AC3E}">
        <p14:creationId xmlns:p14="http://schemas.microsoft.com/office/powerpoint/2010/main" val="337577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6C8CEA0F-5A2E-B98A-57D4-80D3D9DBD72C}"/>
              </a:ext>
            </a:extLst>
          </p:cNvPr>
          <p:cNvSpPr txBox="1"/>
          <p:nvPr/>
        </p:nvSpPr>
        <p:spPr>
          <a:xfrm>
            <a:off x="772732" y="819370"/>
            <a:ext cx="10522959" cy="369332"/>
          </a:xfrm>
          <a:prstGeom prst="rect">
            <a:avLst/>
          </a:prstGeom>
          <a:noFill/>
        </p:spPr>
        <p:txBody>
          <a:bodyPr wrap="square" rtlCol="0">
            <a:spAutoFit/>
          </a:bodyPr>
          <a:lstStyle/>
          <a:p>
            <a:r>
              <a:rPr lang="en-US" noProof="0" dirty="0"/>
              <a:t>        </a:t>
            </a:r>
          </a:p>
        </p:txBody>
      </p:sp>
      <p:sp>
        <p:nvSpPr>
          <p:cNvPr id="2" name="TextBox 1">
            <a:extLst>
              <a:ext uri="{FF2B5EF4-FFF2-40B4-BE49-F238E27FC236}">
                <a16:creationId xmlns:a16="http://schemas.microsoft.com/office/drawing/2014/main" id="{832B4E09-61C4-BB0D-06F9-92231F32174C}"/>
              </a:ext>
            </a:extLst>
          </p:cNvPr>
          <p:cNvSpPr txBox="1"/>
          <p:nvPr/>
        </p:nvSpPr>
        <p:spPr>
          <a:xfrm>
            <a:off x="4114801" y="557760"/>
            <a:ext cx="3464090" cy="523220"/>
          </a:xfrm>
          <a:prstGeom prst="rect">
            <a:avLst/>
          </a:prstGeom>
          <a:noFill/>
        </p:spPr>
        <p:txBody>
          <a:bodyPr wrap="none" rtlCol="0">
            <a:spAutoFit/>
          </a:bodyPr>
          <a:lstStyle/>
          <a:p>
            <a:r>
              <a:rPr lang="en-US" sz="2800" b="1" noProof="0" dirty="0"/>
              <a:t>What is a white dwarf</a:t>
            </a:r>
          </a:p>
        </p:txBody>
      </p:sp>
      <p:sp>
        <p:nvSpPr>
          <p:cNvPr id="5" name="TextBox 4">
            <a:extLst>
              <a:ext uri="{FF2B5EF4-FFF2-40B4-BE49-F238E27FC236}">
                <a16:creationId xmlns:a16="http://schemas.microsoft.com/office/drawing/2014/main" id="{70C93FEF-B189-B34C-EEE7-06866E04C83A}"/>
              </a:ext>
            </a:extLst>
          </p:cNvPr>
          <p:cNvSpPr txBox="1"/>
          <p:nvPr/>
        </p:nvSpPr>
        <p:spPr>
          <a:xfrm>
            <a:off x="985158" y="1450312"/>
            <a:ext cx="10221684" cy="4524315"/>
          </a:xfrm>
          <a:prstGeom prst="rect">
            <a:avLst/>
          </a:prstGeom>
          <a:noFill/>
        </p:spPr>
        <p:txBody>
          <a:bodyPr wrap="square" rtlCol="0">
            <a:spAutoFit/>
          </a:bodyPr>
          <a:lstStyle/>
          <a:p>
            <a:pPr algn="just"/>
            <a:r>
              <a:rPr lang="en-US" noProof="0" dirty="0"/>
              <a:t>In the book [1] S. L. Shapiro and S. A. </a:t>
            </a:r>
            <a:r>
              <a:rPr lang="en-US" noProof="0" dirty="0" err="1"/>
              <a:t>Teukolsky</a:t>
            </a:r>
            <a:r>
              <a:rPr lang="en-US" noProof="0" dirty="0"/>
              <a:t>, Black Holes, White Dwarfs, and Neutron Stars. The Physics of Compact Objects (John Wiley &amp; Sons Inc, New York, 1983) white dwarfs are described as dense remnants of stars, composed mainly of carbon and oxygen nuclei, which contain electrons, protons and neutrons and are supported against collapse induced by gravity by the electron degeneracy pressure due to Pauli exclusion principle. They remain white dwarfs till gravity overcomes electron degeneracy pressure, crushing electrons into protons to form neutrons through β+ decay.</a:t>
            </a:r>
          </a:p>
          <a:p>
            <a:pPr algn="just"/>
            <a:endParaRPr lang="en-US" noProof="0" dirty="0"/>
          </a:p>
          <a:p>
            <a:pPr algn="just"/>
            <a:r>
              <a:rPr lang="en-US" noProof="0" dirty="0"/>
              <a:t>Therefore the simplest model for the interior of a white dwarf is that of </a:t>
            </a:r>
            <a:r>
              <a:rPr lang="en-US" b="1" noProof="0" dirty="0"/>
              <a:t>Jellium</a:t>
            </a:r>
            <a:r>
              <a:rPr lang="en-US" noProof="0" dirty="0"/>
              <a:t>. This is a system of pointwise electrons immersed in a uniform neutralizing background. The density of the electron gas is so high that the Fermi temperature is much higher than the temperature of the star and the electron gas can be considered degenerate.</a:t>
            </a:r>
          </a:p>
          <a:p>
            <a:pPr algn="just"/>
            <a:endParaRPr lang="en-US" noProof="0" dirty="0"/>
          </a:p>
          <a:p>
            <a:pPr algn="just"/>
            <a:r>
              <a:rPr lang="en-US" noProof="0" dirty="0"/>
              <a:t>Chandrasekar model of a white dwarf equilibrium structure didn’t take into account the effects of general relativity. First Tolman, and later Oppenheimer and Volkoff proposed a way to treat the hydrodynamic equations for the equilibrium and stability of a star within the framework of general relativity. To solve the set of hydrodynamic equations one important ingredient is the </a:t>
            </a:r>
            <a:r>
              <a:rPr lang="en-US" b="1" noProof="0" dirty="0"/>
              <a:t>equation of state </a:t>
            </a:r>
            <a:r>
              <a:rPr lang="en-US" noProof="0" dirty="0"/>
              <a:t>of the plasma of the star.</a:t>
            </a:r>
          </a:p>
        </p:txBody>
      </p:sp>
    </p:spTree>
    <p:extLst>
      <p:ext uri="{BB962C8B-B14F-4D97-AF65-F5344CB8AC3E}">
        <p14:creationId xmlns:p14="http://schemas.microsoft.com/office/powerpoint/2010/main" val="1193929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016883-18A1-5772-DFD8-1640473C5D5D}"/>
              </a:ext>
            </a:extLst>
          </p:cNvPr>
          <p:cNvSpPr txBox="1"/>
          <p:nvPr/>
        </p:nvSpPr>
        <p:spPr>
          <a:xfrm>
            <a:off x="4003600" y="631371"/>
            <a:ext cx="4184800" cy="523220"/>
          </a:xfrm>
          <a:prstGeom prst="rect">
            <a:avLst/>
          </a:prstGeom>
          <a:noFill/>
        </p:spPr>
        <p:txBody>
          <a:bodyPr wrap="none" rtlCol="0">
            <a:spAutoFit/>
          </a:bodyPr>
          <a:lstStyle/>
          <a:p>
            <a:pPr algn="just"/>
            <a:r>
              <a:rPr lang="en-US" sz="2800" b="1" noProof="0" dirty="0"/>
              <a:t>The equation of state (</a:t>
            </a:r>
            <a:r>
              <a:rPr lang="en-US" sz="2800" b="1" noProof="0" dirty="0" err="1"/>
              <a:t>eos</a:t>
            </a:r>
            <a:r>
              <a:rPr lang="en-US" sz="2800" b="1" noProof="0" dirty="0"/>
              <a:t>)</a:t>
            </a:r>
          </a:p>
        </p:txBody>
      </p:sp>
      <p:sp>
        <p:nvSpPr>
          <p:cNvPr id="4" name="TextBox 3">
            <a:extLst>
              <a:ext uri="{FF2B5EF4-FFF2-40B4-BE49-F238E27FC236}">
                <a16:creationId xmlns:a16="http://schemas.microsoft.com/office/drawing/2014/main" id="{1DB8B15E-850B-A87C-AF07-0B0BFDB679C0}"/>
              </a:ext>
            </a:extLst>
          </p:cNvPr>
          <p:cNvSpPr txBox="1"/>
          <p:nvPr/>
        </p:nvSpPr>
        <p:spPr>
          <a:xfrm>
            <a:off x="816429" y="1448191"/>
            <a:ext cx="5154232" cy="369332"/>
          </a:xfrm>
          <a:prstGeom prst="rect">
            <a:avLst/>
          </a:prstGeom>
          <a:noFill/>
        </p:spPr>
        <p:txBody>
          <a:bodyPr wrap="none" rtlCol="0">
            <a:spAutoFit/>
          </a:bodyPr>
          <a:lstStyle/>
          <a:p>
            <a:r>
              <a:rPr lang="en-US" noProof="0" dirty="0"/>
              <a:t>The </a:t>
            </a:r>
            <a:r>
              <a:rPr lang="en-US" noProof="0" dirty="0" err="1"/>
              <a:t>eos</a:t>
            </a:r>
            <a:r>
              <a:rPr lang="en-US" noProof="0" dirty="0"/>
              <a:t> of an </a:t>
            </a:r>
            <a:r>
              <a:rPr lang="en-US" b="1" noProof="0" dirty="0"/>
              <a:t>ideal</a:t>
            </a:r>
            <a:r>
              <a:rPr lang="en-US" noProof="0" dirty="0"/>
              <a:t> and </a:t>
            </a:r>
            <a:r>
              <a:rPr lang="en-US" b="1" noProof="0" dirty="0"/>
              <a:t>perfect</a:t>
            </a:r>
            <a:r>
              <a:rPr lang="en-US" noProof="0" dirty="0"/>
              <a:t> plasma is a </a:t>
            </a:r>
            <a:r>
              <a:rPr lang="en-US" noProof="0" dirty="0" err="1"/>
              <a:t>politrope</a:t>
            </a:r>
            <a:r>
              <a:rPr lang="en-US" noProof="0" dirty="0"/>
              <a:t> </a:t>
            </a:r>
          </a:p>
        </p:txBody>
      </p:sp>
      <p:sp>
        <p:nvSpPr>
          <p:cNvPr id="5" name="TextBox 4">
            <a:extLst>
              <a:ext uri="{FF2B5EF4-FFF2-40B4-BE49-F238E27FC236}">
                <a16:creationId xmlns:a16="http://schemas.microsoft.com/office/drawing/2014/main" id="{F8EC7E0F-8F4C-92F5-D63B-3C14C449C17B}"/>
              </a:ext>
            </a:extLst>
          </p:cNvPr>
          <p:cNvSpPr txBox="1"/>
          <p:nvPr/>
        </p:nvSpPr>
        <p:spPr>
          <a:xfrm>
            <a:off x="816429" y="2759444"/>
            <a:ext cx="10461172" cy="3293209"/>
          </a:xfrm>
          <a:prstGeom prst="rect">
            <a:avLst/>
          </a:prstGeom>
          <a:noFill/>
        </p:spPr>
        <p:txBody>
          <a:bodyPr wrap="square" rtlCol="0">
            <a:spAutoFit/>
          </a:bodyPr>
          <a:lstStyle/>
          <a:p>
            <a:pPr algn="just"/>
            <a:r>
              <a:rPr lang="en-US" sz="1600" noProof="0" dirty="0"/>
              <a:t>In order to make some progress towards a more realistic equation of state it is necessary to drop the assumptions of an ideal and perfect electron gas. This has been accomplished with various mean field theories. Since for a white dwarf the Wigner-Seitz radius is small, 0.0003 &lt; </a:t>
            </a:r>
            <a:r>
              <a:rPr lang="en-US" sz="1600" noProof="0" dirty="0" err="1"/>
              <a:t>r</a:t>
            </a:r>
            <a:r>
              <a:rPr lang="en-US" sz="1600" baseline="-25000" noProof="0" dirty="0" err="1"/>
              <a:t>s</a:t>
            </a:r>
            <a:r>
              <a:rPr lang="en-US" sz="1600" baseline="-25000" noProof="0" dirty="0"/>
              <a:t> </a:t>
            </a:r>
            <a:r>
              <a:rPr lang="en-US" sz="1600" noProof="0" dirty="0"/>
              <a:t>=(4πn/3)</a:t>
            </a:r>
            <a:r>
              <a:rPr lang="en-US" sz="1600" baseline="30000" noProof="0" dirty="0"/>
              <a:t>-1/3</a:t>
            </a:r>
            <a:r>
              <a:rPr lang="en-US" sz="1600" noProof="0" dirty="0"/>
              <a:t>/</a:t>
            </a:r>
            <a:r>
              <a:rPr lang="en-US" sz="1600" noProof="0" dirty="0" err="1"/>
              <a:t>a</a:t>
            </a:r>
            <a:r>
              <a:rPr lang="en-US" sz="1600" baseline="-25000" noProof="0" dirty="0" err="1"/>
              <a:t>B</a:t>
            </a:r>
            <a:r>
              <a:rPr lang="en-US" sz="1600" noProof="0" dirty="0"/>
              <a:t>&lt; 0.01, where </a:t>
            </a:r>
            <a:r>
              <a:rPr lang="en-US" sz="1600" noProof="0" dirty="0" err="1"/>
              <a:t>a</a:t>
            </a:r>
            <a:r>
              <a:rPr lang="en-US" sz="1600" baseline="-25000" noProof="0" dirty="0" err="1"/>
              <a:t>B</a:t>
            </a:r>
            <a:r>
              <a:rPr lang="en-US" sz="1600" noProof="0" dirty="0"/>
              <a:t> is Bohr radius, the corrections due to the Coulomb interaction will be small. The main effect of the electrostatic corrections is to give smaller radii and larger central densities compared with Chandrasekhar models of the same mass. As described in §2.4 of the book [1] a first electrostatic correction arises because the positive charges are not uniformly distributed in the gas but are concentrated in individual nuclei. A more accurate equation of state is needed for the strongly correlated plasma at high temperature and high density in the classical regime or at low temperature and low density in the quantum regime. Taking linearly into account charge screening in the electron-ion plasma a better approximation can be obtained from the Debye-</a:t>
            </a:r>
            <a:r>
              <a:rPr lang="en-US" sz="1600" noProof="0" dirty="0" err="1"/>
              <a:t>Hückel</a:t>
            </a:r>
            <a:r>
              <a:rPr lang="en-US" sz="1600" noProof="0" dirty="0"/>
              <a:t> theory in the classical regime or the Thomas-Fermi (and Thomas-Fermi-Dirac or Hartree-Fock) theory in the quantum regime. An even more accurate but non linear theory of screening is offered by Vlasov theory in the classical regime or Lindhard (also known as random phase approximation) theory in the quantum regime. Apart from these mean field theories, perturbative or integral equation approaches are also available.</a:t>
            </a:r>
          </a:p>
        </p:txBody>
      </p:sp>
      <p:pic>
        <p:nvPicPr>
          <p:cNvPr id="9" name="Picture 8">
            <a:extLst>
              <a:ext uri="{FF2B5EF4-FFF2-40B4-BE49-F238E27FC236}">
                <a16:creationId xmlns:a16="http://schemas.microsoft.com/office/drawing/2014/main" id="{3E300A41-9EF3-FD77-AC65-119AE56E7BCD}"/>
              </a:ext>
            </a:extLst>
          </p:cNvPr>
          <p:cNvPicPr>
            <a:picLocks noChangeAspect="1"/>
          </p:cNvPicPr>
          <p:nvPr/>
        </p:nvPicPr>
        <p:blipFill>
          <a:blip r:embed="rId2"/>
          <a:stretch>
            <a:fillRect/>
          </a:stretch>
        </p:blipFill>
        <p:spPr>
          <a:xfrm>
            <a:off x="6221341" y="1390739"/>
            <a:ext cx="4698968" cy="480256"/>
          </a:xfrm>
          <a:prstGeom prst="rect">
            <a:avLst/>
          </a:prstGeom>
        </p:spPr>
      </p:pic>
      <p:sp>
        <p:nvSpPr>
          <p:cNvPr id="10" name="TextBox 9">
            <a:extLst>
              <a:ext uri="{FF2B5EF4-FFF2-40B4-BE49-F238E27FC236}">
                <a16:creationId xmlns:a16="http://schemas.microsoft.com/office/drawing/2014/main" id="{550E7157-AED3-A4A5-C0E2-39C4C4B8D207}"/>
              </a:ext>
            </a:extLst>
          </p:cNvPr>
          <p:cNvSpPr txBox="1"/>
          <p:nvPr/>
        </p:nvSpPr>
        <p:spPr>
          <a:xfrm>
            <a:off x="816429" y="1928447"/>
            <a:ext cx="10461172" cy="830997"/>
          </a:xfrm>
          <a:prstGeom prst="rect">
            <a:avLst/>
          </a:prstGeom>
          <a:noFill/>
        </p:spPr>
        <p:txBody>
          <a:bodyPr wrap="square" rtlCol="0">
            <a:spAutoFit/>
          </a:bodyPr>
          <a:lstStyle/>
          <a:p>
            <a:pPr algn="just"/>
            <a:r>
              <a:rPr lang="en-US" sz="1600" noProof="0" dirty="0"/>
              <a:t>Where </a:t>
            </a:r>
            <a:r>
              <a:rPr lang="en-US" sz="1600" i="1" noProof="0" dirty="0"/>
              <a:t>p</a:t>
            </a:r>
            <a:r>
              <a:rPr lang="en-US" sz="1600" noProof="0" dirty="0"/>
              <a:t> is the pressure and we assume that the white dwarf is made up of a completely ionized plasma with ρ=</a:t>
            </a:r>
            <a:r>
              <a:rPr lang="en-US" sz="1600" noProof="0" dirty="0" err="1"/>
              <a:t>μ</a:t>
            </a:r>
            <a:r>
              <a:rPr lang="en-US" sz="1600" i="1" baseline="-25000" noProof="0" dirty="0" err="1"/>
              <a:t>e</a:t>
            </a:r>
            <a:r>
              <a:rPr lang="en-US" sz="1600" i="1" noProof="0" dirty="0"/>
              <a:t> m</a:t>
            </a:r>
            <a:r>
              <a:rPr lang="en-US" sz="1600" i="1" baseline="-25000" noProof="0" dirty="0"/>
              <a:t>u</a:t>
            </a:r>
            <a:r>
              <a:rPr lang="en-US" sz="1600" i="1" noProof="0" dirty="0"/>
              <a:t> n</a:t>
            </a:r>
            <a:r>
              <a:rPr lang="en-US" sz="1600" noProof="0" dirty="0"/>
              <a:t> with </a:t>
            </a:r>
            <a:r>
              <a:rPr lang="en-US" sz="1600" i="1" noProof="0" dirty="0"/>
              <a:t>n</a:t>
            </a:r>
            <a:r>
              <a:rPr lang="en-US" sz="1600" noProof="0" dirty="0"/>
              <a:t> the electrons number density, </a:t>
            </a:r>
            <a:r>
              <a:rPr lang="en-US" sz="1600" i="1" noProof="0" dirty="0"/>
              <a:t>m</a:t>
            </a:r>
            <a:r>
              <a:rPr lang="en-US" sz="1600" i="1" baseline="-25000" noProof="0" dirty="0"/>
              <a:t>u</a:t>
            </a:r>
            <a:r>
              <a:rPr lang="en-US" sz="1600" noProof="0" dirty="0"/>
              <a:t> the atomic mass unit, and </a:t>
            </a:r>
            <a:r>
              <a:rPr lang="en-US" sz="1600" noProof="0" dirty="0" err="1"/>
              <a:t>μ</a:t>
            </a:r>
            <a:r>
              <a:rPr lang="en-US" sz="1600" i="1" baseline="-25000" noProof="0" dirty="0" err="1"/>
              <a:t>e</a:t>
            </a:r>
            <a:r>
              <a:rPr lang="en-US" sz="1600" noProof="0" dirty="0"/>
              <a:t>=</a:t>
            </a:r>
            <a:r>
              <a:rPr lang="en-US" sz="1600" i="1" noProof="0" dirty="0"/>
              <a:t>A/Z</a:t>
            </a:r>
            <a:r>
              <a:rPr lang="en-US" sz="1600" noProof="0" dirty="0"/>
              <a:t> with </a:t>
            </a:r>
            <a:r>
              <a:rPr lang="en-US" sz="1600" i="1" noProof="0" dirty="0"/>
              <a:t>Z</a:t>
            </a:r>
            <a:r>
              <a:rPr lang="en-US" sz="1600" noProof="0" dirty="0"/>
              <a:t> the atomic number and </a:t>
            </a:r>
            <a:r>
              <a:rPr lang="en-US" sz="1600" i="1" noProof="0" dirty="0"/>
              <a:t>A</a:t>
            </a:r>
            <a:r>
              <a:rPr lang="en-US" sz="1600" noProof="0" dirty="0"/>
              <a:t> the mass number, so that for example for a Helium or Carbon white dwarf </a:t>
            </a:r>
            <a:r>
              <a:rPr lang="en-US" sz="1600" noProof="0" dirty="0" err="1"/>
              <a:t>μ</a:t>
            </a:r>
            <a:r>
              <a:rPr lang="en-US" sz="1600" i="1" baseline="-25000" noProof="0" dirty="0" err="1"/>
              <a:t>e</a:t>
            </a:r>
            <a:r>
              <a:rPr lang="en-US" sz="1600" i="1" noProof="0" dirty="0"/>
              <a:t>=2 </a:t>
            </a:r>
            <a:r>
              <a:rPr lang="en-US" sz="1600" noProof="0" dirty="0"/>
              <a:t>and for an Iron white dwarf </a:t>
            </a:r>
            <a:r>
              <a:rPr lang="en-US" sz="1600" noProof="0" dirty="0" err="1"/>
              <a:t>μ</a:t>
            </a:r>
            <a:r>
              <a:rPr lang="en-US" sz="1600" i="1" baseline="-25000" noProof="0" dirty="0" err="1"/>
              <a:t>e</a:t>
            </a:r>
            <a:r>
              <a:rPr lang="en-US" sz="1600" i="1" noProof="0" dirty="0"/>
              <a:t>= </a:t>
            </a:r>
            <a:r>
              <a:rPr lang="en-US" sz="1600" noProof="0" dirty="0"/>
              <a:t>56/26. </a:t>
            </a:r>
          </a:p>
        </p:txBody>
      </p:sp>
    </p:spTree>
    <p:extLst>
      <p:ext uri="{BB962C8B-B14F-4D97-AF65-F5344CB8AC3E}">
        <p14:creationId xmlns:p14="http://schemas.microsoft.com/office/powerpoint/2010/main" val="189223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C64FD2E-8949-E570-EF39-C0225308BB00}"/>
              </a:ext>
            </a:extLst>
          </p:cNvPr>
          <p:cNvSpPr txBox="1"/>
          <p:nvPr/>
        </p:nvSpPr>
        <p:spPr>
          <a:xfrm>
            <a:off x="3876867" y="593225"/>
            <a:ext cx="4681987" cy="523220"/>
          </a:xfrm>
          <a:prstGeom prst="rect">
            <a:avLst/>
          </a:prstGeom>
          <a:noFill/>
        </p:spPr>
        <p:txBody>
          <a:bodyPr wrap="none" rtlCol="0">
            <a:spAutoFit/>
          </a:bodyPr>
          <a:lstStyle/>
          <a:p>
            <a:r>
              <a:rPr lang="en-US" sz="2800" b="1" noProof="0" dirty="0"/>
              <a:t>The weak thought experiment</a:t>
            </a:r>
          </a:p>
        </p:txBody>
      </p:sp>
      <p:sp>
        <p:nvSpPr>
          <p:cNvPr id="9" name="TextBox 8">
            <a:extLst>
              <a:ext uri="{FF2B5EF4-FFF2-40B4-BE49-F238E27FC236}">
                <a16:creationId xmlns:a16="http://schemas.microsoft.com/office/drawing/2014/main" id="{C81946B9-8BE4-58EF-4BB6-5DDF55691FE9}"/>
              </a:ext>
            </a:extLst>
          </p:cNvPr>
          <p:cNvSpPr txBox="1"/>
          <p:nvPr/>
        </p:nvSpPr>
        <p:spPr>
          <a:xfrm>
            <a:off x="865414" y="1245317"/>
            <a:ext cx="10461172" cy="1477328"/>
          </a:xfrm>
          <a:prstGeom prst="rect">
            <a:avLst/>
          </a:prstGeom>
          <a:noFill/>
        </p:spPr>
        <p:txBody>
          <a:bodyPr wrap="square" rtlCol="0">
            <a:spAutoFit/>
          </a:bodyPr>
          <a:lstStyle/>
          <a:p>
            <a:pPr algn="just"/>
            <a:r>
              <a:rPr lang="en-US" noProof="0" dirty="0"/>
              <a:t>More progress towards an exact solution of the model of the plasma is otherwise possible employing numerical computer experiments like path integral Monte Carlo [2] at finite non zero temperature or diffusion Monte Carlo at zero temperature. In order to take into account the effects of general relativity in the equation of state to be used within the Tolman-Oppenheimer-Volkoff equilibrium it is then necessary to solve a path integral Monte Carlo experiment for an electron or an electron-ion plasma within general relativity.</a:t>
            </a:r>
          </a:p>
        </p:txBody>
      </p:sp>
      <p:sp>
        <p:nvSpPr>
          <p:cNvPr id="10" name="TextBox 9">
            <a:extLst>
              <a:ext uri="{FF2B5EF4-FFF2-40B4-BE49-F238E27FC236}">
                <a16:creationId xmlns:a16="http://schemas.microsoft.com/office/drawing/2014/main" id="{8D015179-2CF6-F1F2-371B-A6289336C636}"/>
              </a:ext>
            </a:extLst>
          </p:cNvPr>
          <p:cNvSpPr txBox="1"/>
          <p:nvPr/>
        </p:nvSpPr>
        <p:spPr>
          <a:xfrm>
            <a:off x="865414" y="2913072"/>
            <a:ext cx="10461172" cy="3416320"/>
          </a:xfrm>
          <a:prstGeom prst="rect">
            <a:avLst/>
          </a:prstGeom>
          <a:noFill/>
        </p:spPr>
        <p:txBody>
          <a:bodyPr wrap="square" rtlCol="0">
            <a:spAutoFit/>
          </a:bodyPr>
          <a:lstStyle/>
          <a:p>
            <a:pPr algn="just"/>
            <a:r>
              <a:rPr lang="en-US" noProof="0" dirty="0"/>
              <a:t>We can then proceed following two distinct routes, either we treat the quantum particles as living in a classical</a:t>
            </a:r>
          </a:p>
          <a:p>
            <a:pPr algn="just"/>
            <a:r>
              <a:rPr lang="en-US" noProof="0" dirty="0"/>
              <a:t>(non-quantum) spacetime or classical (non-quantum) particles living in a quantum spacetime [R. Fantoni, Many Body in General Relativity: A thermal equivalence principle, Quantum Rep. 8, 42 (2026)]. Here we propose to use the former route which we found to be the </a:t>
            </a:r>
            <a:r>
              <a:rPr lang="en-US" b="1" noProof="0" dirty="0"/>
              <a:t>simplest</a:t>
            </a:r>
            <a:r>
              <a:rPr lang="en-US" noProof="0" dirty="0"/>
              <a:t> of the two.</a:t>
            </a:r>
          </a:p>
          <a:p>
            <a:pPr algn="just"/>
            <a:endParaRPr lang="en-US" noProof="0" dirty="0"/>
          </a:p>
          <a:p>
            <a:pPr algn="just"/>
            <a:r>
              <a:rPr lang="en-US" noProof="0" dirty="0"/>
              <a:t>This welding of causality, inherent in general relativity, and </a:t>
            </a:r>
            <a:r>
              <a:rPr lang="en-US" noProof="0" dirty="0" err="1"/>
              <a:t>casuality</a:t>
            </a:r>
            <a:r>
              <a:rPr lang="en-US" noProof="0" dirty="0"/>
              <a:t>, inherent in the Monte Carlo method, is expected to offer an operative approach to the problem of (quantum) statistical gravity of many body liquids.</a:t>
            </a:r>
          </a:p>
          <a:p>
            <a:pPr algn="just"/>
            <a:endParaRPr lang="en-US" noProof="0" dirty="0"/>
          </a:p>
          <a:p>
            <a:pPr algn="just"/>
            <a:r>
              <a:rPr lang="en-US" noProof="0" dirty="0"/>
              <a:t>The melt between the superposition principle of quantum physics and the non linearity of general relativity is still under construction.</a:t>
            </a:r>
          </a:p>
          <a:p>
            <a:pPr algn="just"/>
            <a:endParaRPr lang="en-US" noProof="0" dirty="0"/>
          </a:p>
          <a:p>
            <a:pPr algn="just"/>
            <a:r>
              <a:rPr lang="en-US" noProof="0" dirty="0"/>
              <a:t>In the following we will solve a concrete computer experiment.</a:t>
            </a:r>
          </a:p>
        </p:txBody>
      </p:sp>
    </p:spTree>
    <p:extLst>
      <p:ext uri="{BB962C8B-B14F-4D97-AF65-F5344CB8AC3E}">
        <p14:creationId xmlns:p14="http://schemas.microsoft.com/office/powerpoint/2010/main" val="113146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1">
            <a:extLst>
              <a:ext uri="{FF2B5EF4-FFF2-40B4-BE49-F238E27FC236}">
                <a16:creationId xmlns:a16="http://schemas.microsoft.com/office/drawing/2014/main" id="{3D0C329A-22EC-F03F-D733-E379ADDC3DEF}"/>
              </a:ext>
            </a:extLst>
          </p:cNvPr>
          <p:cNvSpPr txBox="1"/>
          <p:nvPr/>
        </p:nvSpPr>
        <p:spPr>
          <a:xfrm>
            <a:off x="3876867" y="593225"/>
            <a:ext cx="4609403" cy="523220"/>
          </a:xfrm>
          <a:prstGeom prst="rect">
            <a:avLst/>
          </a:prstGeom>
          <a:noFill/>
        </p:spPr>
        <p:txBody>
          <a:bodyPr wrap="none" rtlCol="0">
            <a:spAutoFit/>
          </a:bodyPr>
          <a:lstStyle/>
          <a:p>
            <a:r>
              <a:rPr lang="en-US" sz="2800" b="1" noProof="0" dirty="0"/>
              <a:t>White dwarf thin atmosphere</a:t>
            </a:r>
          </a:p>
        </p:txBody>
      </p:sp>
      <p:sp>
        <p:nvSpPr>
          <p:cNvPr id="4" name="TextBox 3">
            <a:extLst>
              <a:ext uri="{FF2B5EF4-FFF2-40B4-BE49-F238E27FC236}">
                <a16:creationId xmlns:a16="http://schemas.microsoft.com/office/drawing/2014/main" id="{BFEEC8E1-9ABE-DE22-57F2-01107C99797D}"/>
              </a:ext>
            </a:extLst>
          </p:cNvPr>
          <p:cNvSpPr txBox="1"/>
          <p:nvPr/>
        </p:nvSpPr>
        <p:spPr>
          <a:xfrm>
            <a:off x="662171" y="1398416"/>
            <a:ext cx="10909343" cy="1200329"/>
          </a:xfrm>
          <a:prstGeom prst="rect">
            <a:avLst/>
          </a:prstGeom>
          <a:noFill/>
        </p:spPr>
        <p:txBody>
          <a:bodyPr wrap="square" rtlCol="0">
            <a:spAutoFit/>
          </a:bodyPr>
          <a:lstStyle/>
          <a:p>
            <a:pPr algn="just"/>
            <a:r>
              <a:rPr lang="en-US" noProof="0" dirty="0"/>
              <a:t>The luminosity of a white dwarf is due to a thin radiating layer on the star surface (see chapter 4 of the book [1]). The mechanism of a white dwarf cooling is the primary bridge between our theoretical description of the star and observational data which rely on essentially two aspects: luminosity observations and time scale of the observed cooling.</a:t>
            </a:r>
          </a:p>
        </p:txBody>
      </p:sp>
      <p:sp>
        <p:nvSpPr>
          <p:cNvPr id="5" name="TextBox 4">
            <a:extLst>
              <a:ext uri="{FF2B5EF4-FFF2-40B4-BE49-F238E27FC236}">
                <a16:creationId xmlns:a16="http://schemas.microsoft.com/office/drawing/2014/main" id="{44D8EFFF-D66F-FB77-DA17-9B729BAE5EE0}"/>
              </a:ext>
            </a:extLst>
          </p:cNvPr>
          <p:cNvSpPr txBox="1"/>
          <p:nvPr/>
        </p:nvSpPr>
        <p:spPr>
          <a:xfrm>
            <a:off x="641328" y="2735442"/>
            <a:ext cx="10909343" cy="3139321"/>
          </a:xfrm>
          <a:prstGeom prst="rect">
            <a:avLst/>
          </a:prstGeom>
          <a:noFill/>
        </p:spPr>
        <p:txBody>
          <a:bodyPr wrap="square" rtlCol="0">
            <a:spAutoFit/>
          </a:bodyPr>
          <a:lstStyle/>
          <a:p>
            <a:pPr algn="just"/>
            <a:r>
              <a:rPr lang="en-US" noProof="0" dirty="0"/>
              <a:t>We then </a:t>
            </a:r>
            <a:r>
              <a:rPr lang="en-US" b="1" noProof="0" dirty="0"/>
              <a:t>propose</a:t>
            </a:r>
            <a:r>
              <a:rPr lang="en-US" noProof="0" dirty="0"/>
              <a:t> to determine the properties of the electron plasma in this thin surface layer using the path integral Monte Carlo (PIMC) method [2] at low non zero temperature. In order to take into account the effects of general relativity we will use the 3+1 foliation of </a:t>
            </a:r>
            <a:r>
              <a:rPr lang="en-US" noProof="0" dirty="0" err="1"/>
              <a:t>Arnowitt</a:t>
            </a:r>
            <a:r>
              <a:rPr lang="en-US" noProof="0" dirty="0"/>
              <a:t>, </a:t>
            </a:r>
            <a:r>
              <a:rPr lang="en-US" noProof="0" dirty="0" err="1"/>
              <a:t>Deser</a:t>
            </a:r>
            <a:r>
              <a:rPr lang="en-US" noProof="0" dirty="0"/>
              <a:t>, and Misner (ADM) to build a density matrix from the stress-energy tensor through a path integral where on each imaginary </a:t>
            </a:r>
            <a:r>
              <a:rPr lang="en-US" noProof="0" dirty="0" err="1"/>
              <a:t>timeslice</a:t>
            </a:r>
            <a:r>
              <a:rPr lang="en-US" noProof="0" dirty="0"/>
              <a:t> one selects a constant time foil. This amounts to treat the quantum Coulomb plasma in the classical Schwarzschild spatial metric in a patch of subatomic dimensions just at the radius     of the star of mass      . We will neglect the gravitational potential energy of the plasma subject to the attraction of the star mass M but will include the “geometrical potential” w = −ℏ[ln √</a:t>
            </a:r>
            <a:r>
              <a:rPr lang="en-US" baseline="30000" noProof="0" dirty="0"/>
              <a:t>3</a:t>
            </a:r>
            <a:r>
              <a:rPr lang="en-US" noProof="0" dirty="0"/>
              <a:t>g]/τ with τ the imaginary time step used in the discretization of the path integral.</a:t>
            </a:r>
          </a:p>
          <a:p>
            <a:pPr algn="just"/>
            <a:endParaRPr lang="en-US" noProof="0" dirty="0"/>
          </a:p>
          <a:p>
            <a:pPr algn="just"/>
            <a:r>
              <a:rPr lang="en-US" noProof="0" dirty="0"/>
              <a:t>We will determine the effect of the temperature, the quantum statistics, the charge neutrality of the patch, and the curvature of space due to the mass M, on the thermodynamic and structural properties of the star atmosphere.</a:t>
            </a:r>
          </a:p>
        </p:txBody>
      </p:sp>
      <p:pic>
        <p:nvPicPr>
          <p:cNvPr id="7" name="Picture 6">
            <a:extLst>
              <a:ext uri="{FF2B5EF4-FFF2-40B4-BE49-F238E27FC236}">
                <a16:creationId xmlns:a16="http://schemas.microsoft.com/office/drawing/2014/main" id="{926C6B24-7502-0D53-0181-0175A1BAD0EB}"/>
              </a:ext>
            </a:extLst>
          </p:cNvPr>
          <p:cNvPicPr>
            <a:picLocks noChangeAspect="1"/>
          </p:cNvPicPr>
          <p:nvPr/>
        </p:nvPicPr>
        <p:blipFill>
          <a:blip r:embed="rId2"/>
          <a:stretch>
            <a:fillRect/>
          </a:stretch>
        </p:blipFill>
        <p:spPr>
          <a:xfrm>
            <a:off x="6476967" y="4220299"/>
            <a:ext cx="217780" cy="150117"/>
          </a:xfrm>
          <a:prstGeom prst="rect">
            <a:avLst/>
          </a:prstGeom>
        </p:spPr>
      </p:pic>
      <p:pic>
        <p:nvPicPr>
          <p:cNvPr id="9" name="Picture 8">
            <a:extLst>
              <a:ext uri="{FF2B5EF4-FFF2-40B4-BE49-F238E27FC236}">
                <a16:creationId xmlns:a16="http://schemas.microsoft.com/office/drawing/2014/main" id="{1CE077A0-43FF-94D6-0544-198B4FACF331}"/>
              </a:ext>
            </a:extLst>
          </p:cNvPr>
          <p:cNvPicPr>
            <a:picLocks noChangeAspect="1"/>
          </p:cNvPicPr>
          <p:nvPr/>
        </p:nvPicPr>
        <p:blipFill>
          <a:blip r:embed="rId3"/>
          <a:stretch>
            <a:fillRect/>
          </a:stretch>
        </p:blipFill>
        <p:spPr>
          <a:xfrm>
            <a:off x="4479579" y="4234899"/>
            <a:ext cx="163070" cy="140406"/>
          </a:xfrm>
          <a:prstGeom prst="rect">
            <a:avLst/>
          </a:prstGeom>
        </p:spPr>
      </p:pic>
    </p:spTree>
    <p:extLst>
      <p:ext uri="{BB962C8B-B14F-4D97-AF65-F5344CB8AC3E}">
        <p14:creationId xmlns:p14="http://schemas.microsoft.com/office/powerpoint/2010/main" val="3056655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826427-CB81-8B28-9956-52CA7C161316}"/>
              </a:ext>
            </a:extLst>
          </p:cNvPr>
          <p:cNvSpPr txBox="1"/>
          <p:nvPr/>
        </p:nvSpPr>
        <p:spPr>
          <a:xfrm>
            <a:off x="640650" y="1674674"/>
            <a:ext cx="10910699" cy="2585323"/>
          </a:xfrm>
          <a:prstGeom prst="rect">
            <a:avLst/>
          </a:prstGeom>
          <a:noFill/>
        </p:spPr>
        <p:txBody>
          <a:bodyPr wrap="square" rtlCol="0">
            <a:spAutoFit/>
          </a:bodyPr>
          <a:lstStyle/>
          <a:p>
            <a:pPr algn="just"/>
            <a:r>
              <a:rPr lang="en-US" noProof="0" dirty="0"/>
              <a:t>We may assume that the electrons dispersion relation is the one of non relativistic particles ϵ(p) = p</a:t>
            </a:r>
            <a:r>
              <a:rPr lang="en-US" baseline="30000" noProof="0" dirty="0"/>
              <a:t>2</a:t>
            </a:r>
            <a:r>
              <a:rPr lang="en-US" noProof="0" dirty="0"/>
              <a:t>/2m. This is reasonable since the density of the electron-proton plasma in the thin surface layer is ρ ≈ 10</a:t>
            </a:r>
            <a:r>
              <a:rPr lang="en-US" baseline="30000" noProof="0" dirty="0"/>
              <a:t>3</a:t>
            </a:r>
            <a:r>
              <a:rPr lang="en-US" noProof="0" dirty="0"/>
              <a:t>g/cm</a:t>
            </a:r>
            <a:r>
              <a:rPr lang="en-US" baseline="30000" noProof="0" dirty="0"/>
              <a:t>3</a:t>
            </a:r>
            <a:r>
              <a:rPr lang="en-US" noProof="0" dirty="0"/>
              <a:t> (see section 4.1 of the book [1]), much lower than the central densities, corresponding to </a:t>
            </a:r>
            <a:r>
              <a:rPr lang="en-US" noProof="0" dirty="0" err="1"/>
              <a:t>r</a:t>
            </a:r>
            <a:r>
              <a:rPr lang="en-US" baseline="-25000" noProof="0" dirty="0" err="1"/>
              <a:t>s</a:t>
            </a:r>
            <a:r>
              <a:rPr lang="en-US" noProof="0" dirty="0"/>
              <a:t> ≈ 0.2. Therefore p</a:t>
            </a:r>
            <a:r>
              <a:rPr lang="en-US" baseline="-25000" noProof="0" dirty="0"/>
              <a:t>F</a:t>
            </a:r>
            <a:r>
              <a:rPr lang="en-US" baseline="30000" noProof="0" dirty="0"/>
              <a:t>2</a:t>
            </a:r>
            <a:r>
              <a:rPr lang="en-US" noProof="0" dirty="0"/>
              <a:t>/(mc)</a:t>
            </a:r>
            <a:r>
              <a:rPr lang="en-US" baseline="30000" noProof="0" dirty="0"/>
              <a:t>2</a:t>
            </a:r>
            <a:r>
              <a:rPr lang="en-US" noProof="0" dirty="0"/>
              <a:t> ≈ 0.01 where m is the electron mass and p</a:t>
            </a:r>
            <a:r>
              <a:rPr lang="en-US" baseline="-25000" noProof="0" dirty="0"/>
              <a:t>F</a:t>
            </a:r>
            <a:r>
              <a:rPr lang="en-US" noProof="0" dirty="0"/>
              <a:t> = h(3n/4π)</a:t>
            </a:r>
            <a:r>
              <a:rPr lang="en-US" baseline="30000" noProof="0" dirty="0"/>
              <a:t>1/3</a:t>
            </a:r>
            <a:r>
              <a:rPr lang="en-US" noProof="0" dirty="0"/>
              <a:t> is the polarized electrons Fermi momentum. The temperature of the surface layer falls in the range 10</a:t>
            </a:r>
            <a:r>
              <a:rPr lang="en-US" baseline="30000" noProof="0" dirty="0"/>
              <a:t>6</a:t>
            </a:r>
            <a:r>
              <a:rPr lang="en-US" noProof="0" dirty="0"/>
              <a:t>K &lt;∼T &lt;∼10</a:t>
            </a:r>
            <a:r>
              <a:rPr lang="en-US" baseline="30000" noProof="0" dirty="0"/>
              <a:t>7</a:t>
            </a:r>
            <a:r>
              <a:rPr lang="en-US" noProof="0" dirty="0"/>
              <a:t>K. We will consider a white dwarf with a radius R ≈ 700Km and a solar mass      ≈ 2 × 10</a:t>
            </a:r>
            <a:r>
              <a:rPr lang="en-US" baseline="30000" noProof="0" dirty="0"/>
              <a:t>30</a:t>
            </a:r>
            <a:r>
              <a:rPr lang="en-US" noProof="0" dirty="0"/>
              <a:t>Kg, so the Schwarzschild radius is about </a:t>
            </a:r>
            <a:r>
              <a:rPr lang="en-US" noProof="0" dirty="0" err="1"/>
              <a:t>R</a:t>
            </a:r>
            <a:r>
              <a:rPr lang="en-US" baseline="-25000" noProof="0" dirty="0" err="1"/>
              <a:t>Sc</a:t>
            </a:r>
            <a:r>
              <a:rPr lang="en-US" noProof="0" dirty="0"/>
              <a:t> ≈ 3Km.</a:t>
            </a:r>
          </a:p>
          <a:p>
            <a:pPr algn="just"/>
            <a:endParaRPr lang="en-US" noProof="0" dirty="0"/>
          </a:p>
          <a:p>
            <a:pPr algn="just"/>
            <a:r>
              <a:rPr lang="en-US" noProof="0" dirty="0"/>
              <a:t>This allows to proceed without worrying about the formation of electron-positron pairs or of the employment of complications like the Fock ‘fifth parameter’ used by Feynmann.</a:t>
            </a:r>
          </a:p>
        </p:txBody>
      </p:sp>
      <p:sp>
        <p:nvSpPr>
          <p:cNvPr id="9" name="TextBox 8">
            <a:extLst>
              <a:ext uri="{FF2B5EF4-FFF2-40B4-BE49-F238E27FC236}">
                <a16:creationId xmlns:a16="http://schemas.microsoft.com/office/drawing/2014/main" id="{6EFA0EBB-350B-8A60-00C4-0F180C815359}"/>
              </a:ext>
            </a:extLst>
          </p:cNvPr>
          <p:cNvSpPr txBox="1"/>
          <p:nvPr/>
        </p:nvSpPr>
        <p:spPr>
          <a:xfrm>
            <a:off x="640648" y="4724631"/>
            <a:ext cx="10910699" cy="923330"/>
          </a:xfrm>
          <a:prstGeom prst="rect">
            <a:avLst/>
          </a:prstGeom>
          <a:noFill/>
        </p:spPr>
        <p:txBody>
          <a:bodyPr wrap="square" rtlCol="0">
            <a:spAutoFit/>
          </a:bodyPr>
          <a:lstStyle/>
          <a:p>
            <a:pPr algn="just"/>
            <a:r>
              <a:rPr lang="en-US" noProof="0" dirty="0"/>
              <a:t>In Ref. [3] [R. Fantoni, Path Integral Monte Carlo on a Sphere, Phys. Rev. B </a:t>
            </a:r>
            <a:r>
              <a:rPr lang="en-US" b="1" noProof="0" dirty="0"/>
              <a:t>114</a:t>
            </a:r>
            <a:r>
              <a:rPr lang="en-US" noProof="0" dirty="0"/>
              <a:t>, 185409 (2026)] I used the Path Integral Monte Carlo (PIMC) method to study the thermodynamic and structural properties of a many body system. Here I will use the same method for the atmosphere of the white dwarf.</a:t>
            </a:r>
          </a:p>
        </p:txBody>
      </p:sp>
      <p:sp>
        <p:nvSpPr>
          <p:cNvPr id="10" name="TextBox 9">
            <a:extLst>
              <a:ext uri="{FF2B5EF4-FFF2-40B4-BE49-F238E27FC236}">
                <a16:creationId xmlns:a16="http://schemas.microsoft.com/office/drawing/2014/main" id="{23E6C6E9-B8C8-88EC-4127-12389B57219A}"/>
              </a:ext>
            </a:extLst>
          </p:cNvPr>
          <p:cNvSpPr txBox="1"/>
          <p:nvPr/>
        </p:nvSpPr>
        <p:spPr>
          <a:xfrm>
            <a:off x="2107022" y="686820"/>
            <a:ext cx="7977953" cy="523220"/>
          </a:xfrm>
          <a:prstGeom prst="rect">
            <a:avLst/>
          </a:prstGeom>
          <a:noFill/>
        </p:spPr>
        <p:txBody>
          <a:bodyPr wrap="none" rtlCol="0">
            <a:spAutoFit/>
          </a:bodyPr>
          <a:lstStyle/>
          <a:p>
            <a:r>
              <a:rPr lang="en-US" sz="2800" b="1" noProof="0" dirty="0"/>
              <a:t>Non relativistic quantum particles on a curved space</a:t>
            </a:r>
          </a:p>
        </p:txBody>
      </p:sp>
      <p:pic>
        <p:nvPicPr>
          <p:cNvPr id="14" name="Picture 13">
            <a:extLst>
              <a:ext uri="{FF2B5EF4-FFF2-40B4-BE49-F238E27FC236}">
                <a16:creationId xmlns:a16="http://schemas.microsoft.com/office/drawing/2014/main" id="{7C5774C7-D5CF-E878-8B81-C463A8A83652}"/>
              </a:ext>
            </a:extLst>
          </p:cNvPr>
          <p:cNvPicPr>
            <a:picLocks noChangeAspect="1"/>
          </p:cNvPicPr>
          <p:nvPr/>
        </p:nvPicPr>
        <p:blipFill>
          <a:blip r:embed="rId2"/>
          <a:stretch>
            <a:fillRect/>
          </a:stretch>
        </p:blipFill>
        <p:spPr>
          <a:xfrm>
            <a:off x="1747760" y="3147111"/>
            <a:ext cx="217780" cy="150117"/>
          </a:xfrm>
          <a:prstGeom prst="rect">
            <a:avLst/>
          </a:prstGeom>
        </p:spPr>
      </p:pic>
    </p:spTree>
    <p:extLst>
      <p:ext uri="{BB962C8B-B14F-4D97-AF65-F5344CB8AC3E}">
        <p14:creationId xmlns:p14="http://schemas.microsoft.com/office/powerpoint/2010/main" val="3474519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CA130E-5C0F-A6D6-23C8-DF795A0AC5B4}"/>
              </a:ext>
            </a:extLst>
          </p:cNvPr>
          <p:cNvSpPr txBox="1"/>
          <p:nvPr/>
        </p:nvSpPr>
        <p:spPr>
          <a:xfrm>
            <a:off x="1732045" y="585656"/>
            <a:ext cx="7816563" cy="523220"/>
          </a:xfrm>
          <a:prstGeom prst="rect">
            <a:avLst/>
          </a:prstGeom>
          <a:noFill/>
        </p:spPr>
        <p:txBody>
          <a:bodyPr wrap="none" rtlCol="0">
            <a:spAutoFit/>
          </a:bodyPr>
          <a:lstStyle/>
          <a:p>
            <a:r>
              <a:rPr lang="en-US" sz="2800" b="1" noProof="0" dirty="0"/>
              <a:t>3N dimensional manifold where the N particles live</a:t>
            </a:r>
          </a:p>
        </p:txBody>
      </p:sp>
      <p:pic>
        <p:nvPicPr>
          <p:cNvPr id="9" name="Picture 8">
            <a:extLst>
              <a:ext uri="{FF2B5EF4-FFF2-40B4-BE49-F238E27FC236}">
                <a16:creationId xmlns:a16="http://schemas.microsoft.com/office/drawing/2014/main" id="{E81FE50B-7B57-3CE3-8814-1C11AEB41246}"/>
              </a:ext>
            </a:extLst>
          </p:cNvPr>
          <p:cNvPicPr>
            <a:picLocks noChangeAspect="1"/>
          </p:cNvPicPr>
          <p:nvPr/>
        </p:nvPicPr>
        <p:blipFill>
          <a:blip r:embed="rId2"/>
          <a:stretch>
            <a:fillRect/>
          </a:stretch>
        </p:blipFill>
        <p:spPr>
          <a:xfrm>
            <a:off x="589830" y="4499078"/>
            <a:ext cx="3195773" cy="208421"/>
          </a:xfrm>
          <a:prstGeom prst="rect">
            <a:avLst/>
          </a:prstGeom>
        </p:spPr>
      </p:pic>
      <p:pic>
        <p:nvPicPr>
          <p:cNvPr id="11" name="Picture 10">
            <a:extLst>
              <a:ext uri="{FF2B5EF4-FFF2-40B4-BE49-F238E27FC236}">
                <a16:creationId xmlns:a16="http://schemas.microsoft.com/office/drawing/2014/main" id="{190A24D7-7B71-003F-B2DF-7E7773C6D97B}"/>
              </a:ext>
            </a:extLst>
          </p:cNvPr>
          <p:cNvPicPr>
            <a:picLocks noChangeAspect="1"/>
          </p:cNvPicPr>
          <p:nvPr/>
        </p:nvPicPr>
        <p:blipFill>
          <a:blip r:embed="rId3"/>
          <a:stretch>
            <a:fillRect/>
          </a:stretch>
        </p:blipFill>
        <p:spPr>
          <a:xfrm>
            <a:off x="610285" y="5104211"/>
            <a:ext cx="1603819" cy="610169"/>
          </a:xfrm>
          <a:prstGeom prst="rect">
            <a:avLst/>
          </a:prstGeom>
        </p:spPr>
      </p:pic>
      <p:pic>
        <p:nvPicPr>
          <p:cNvPr id="15" name="Picture 14">
            <a:extLst>
              <a:ext uri="{FF2B5EF4-FFF2-40B4-BE49-F238E27FC236}">
                <a16:creationId xmlns:a16="http://schemas.microsoft.com/office/drawing/2014/main" id="{221022E4-F16F-32DD-C22E-99D49EE8FD29}"/>
              </a:ext>
            </a:extLst>
          </p:cNvPr>
          <p:cNvPicPr>
            <a:picLocks noChangeAspect="1"/>
          </p:cNvPicPr>
          <p:nvPr/>
        </p:nvPicPr>
        <p:blipFill>
          <a:blip r:embed="rId4"/>
          <a:stretch>
            <a:fillRect/>
          </a:stretch>
        </p:blipFill>
        <p:spPr>
          <a:xfrm>
            <a:off x="610285" y="2216780"/>
            <a:ext cx="5485714" cy="239744"/>
          </a:xfrm>
          <a:prstGeom prst="rect">
            <a:avLst/>
          </a:prstGeom>
        </p:spPr>
      </p:pic>
      <p:pic>
        <p:nvPicPr>
          <p:cNvPr id="21" name="Picture 20">
            <a:extLst>
              <a:ext uri="{FF2B5EF4-FFF2-40B4-BE49-F238E27FC236}">
                <a16:creationId xmlns:a16="http://schemas.microsoft.com/office/drawing/2014/main" id="{BFF663F2-CDA4-CE34-8335-27173E7DBDD6}"/>
              </a:ext>
            </a:extLst>
          </p:cNvPr>
          <p:cNvPicPr>
            <a:picLocks noChangeAspect="1"/>
          </p:cNvPicPr>
          <p:nvPr/>
        </p:nvPicPr>
        <p:blipFill>
          <a:blip r:embed="rId5"/>
          <a:stretch>
            <a:fillRect/>
          </a:stretch>
        </p:blipFill>
        <p:spPr>
          <a:xfrm>
            <a:off x="610285" y="2589286"/>
            <a:ext cx="2483743" cy="225705"/>
          </a:xfrm>
          <a:prstGeom prst="rect">
            <a:avLst/>
          </a:prstGeom>
        </p:spPr>
      </p:pic>
      <p:pic>
        <p:nvPicPr>
          <p:cNvPr id="23" name="Picture 22">
            <a:extLst>
              <a:ext uri="{FF2B5EF4-FFF2-40B4-BE49-F238E27FC236}">
                <a16:creationId xmlns:a16="http://schemas.microsoft.com/office/drawing/2014/main" id="{9D961476-4E43-6AFC-2B52-54B3B9F9B11B}"/>
              </a:ext>
            </a:extLst>
          </p:cNvPr>
          <p:cNvPicPr>
            <a:picLocks noChangeAspect="1"/>
          </p:cNvPicPr>
          <p:nvPr/>
        </p:nvPicPr>
        <p:blipFill>
          <a:blip r:embed="rId6"/>
          <a:stretch>
            <a:fillRect/>
          </a:stretch>
        </p:blipFill>
        <p:spPr>
          <a:xfrm>
            <a:off x="610285" y="2947753"/>
            <a:ext cx="1530903" cy="179292"/>
          </a:xfrm>
          <a:prstGeom prst="rect">
            <a:avLst/>
          </a:prstGeom>
        </p:spPr>
      </p:pic>
      <p:pic>
        <p:nvPicPr>
          <p:cNvPr id="27" name="Picture 26">
            <a:extLst>
              <a:ext uri="{FF2B5EF4-FFF2-40B4-BE49-F238E27FC236}">
                <a16:creationId xmlns:a16="http://schemas.microsoft.com/office/drawing/2014/main" id="{C591534B-4146-0C59-5B35-9E2E2B584DB4}"/>
              </a:ext>
            </a:extLst>
          </p:cNvPr>
          <p:cNvPicPr>
            <a:picLocks noChangeAspect="1"/>
          </p:cNvPicPr>
          <p:nvPr/>
        </p:nvPicPr>
        <p:blipFill>
          <a:blip r:embed="rId7"/>
          <a:stretch>
            <a:fillRect/>
          </a:stretch>
        </p:blipFill>
        <p:spPr>
          <a:xfrm>
            <a:off x="610285" y="3243147"/>
            <a:ext cx="3952381" cy="235417"/>
          </a:xfrm>
          <a:prstGeom prst="rect">
            <a:avLst/>
          </a:prstGeom>
        </p:spPr>
      </p:pic>
      <p:pic>
        <p:nvPicPr>
          <p:cNvPr id="31" name="Picture 30">
            <a:extLst>
              <a:ext uri="{FF2B5EF4-FFF2-40B4-BE49-F238E27FC236}">
                <a16:creationId xmlns:a16="http://schemas.microsoft.com/office/drawing/2014/main" id="{B86101C4-0F61-7715-19D7-F0F7CB3EE9D8}"/>
              </a:ext>
            </a:extLst>
          </p:cNvPr>
          <p:cNvPicPr>
            <a:picLocks noChangeAspect="1"/>
          </p:cNvPicPr>
          <p:nvPr/>
        </p:nvPicPr>
        <p:blipFill>
          <a:blip r:embed="rId8"/>
          <a:stretch>
            <a:fillRect/>
          </a:stretch>
        </p:blipFill>
        <p:spPr>
          <a:xfrm>
            <a:off x="6308361" y="2236757"/>
            <a:ext cx="3951336" cy="199789"/>
          </a:xfrm>
          <a:prstGeom prst="rect">
            <a:avLst/>
          </a:prstGeom>
        </p:spPr>
      </p:pic>
      <p:pic>
        <p:nvPicPr>
          <p:cNvPr id="35" name="Picture 34">
            <a:extLst>
              <a:ext uri="{FF2B5EF4-FFF2-40B4-BE49-F238E27FC236}">
                <a16:creationId xmlns:a16="http://schemas.microsoft.com/office/drawing/2014/main" id="{99F09692-6DD2-7000-D6C2-D7DA9260B69A}"/>
              </a:ext>
            </a:extLst>
          </p:cNvPr>
          <p:cNvPicPr>
            <a:picLocks noChangeAspect="1"/>
          </p:cNvPicPr>
          <p:nvPr/>
        </p:nvPicPr>
        <p:blipFill>
          <a:blip r:embed="rId9"/>
          <a:stretch>
            <a:fillRect/>
          </a:stretch>
        </p:blipFill>
        <p:spPr>
          <a:xfrm>
            <a:off x="4288244" y="4521701"/>
            <a:ext cx="6917946" cy="440660"/>
          </a:xfrm>
          <a:prstGeom prst="rect">
            <a:avLst/>
          </a:prstGeom>
        </p:spPr>
      </p:pic>
      <p:pic>
        <p:nvPicPr>
          <p:cNvPr id="37" name="Picture 36">
            <a:extLst>
              <a:ext uri="{FF2B5EF4-FFF2-40B4-BE49-F238E27FC236}">
                <a16:creationId xmlns:a16="http://schemas.microsoft.com/office/drawing/2014/main" id="{81836709-EE3D-B460-005B-7741ED135D4B}"/>
              </a:ext>
            </a:extLst>
          </p:cNvPr>
          <p:cNvPicPr>
            <a:picLocks noChangeAspect="1"/>
          </p:cNvPicPr>
          <p:nvPr/>
        </p:nvPicPr>
        <p:blipFill>
          <a:blip r:embed="rId10"/>
          <a:stretch>
            <a:fillRect/>
          </a:stretch>
        </p:blipFill>
        <p:spPr>
          <a:xfrm>
            <a:off x="2425105" y="5323779"/>
            <a:ext cx="2761905" cy="216357"/>
          </a:xfrm>
          <a:prstGeom prst="rect">
            <a:avLst/>
          </a:prstGeom>
        </p:spPr>
      </p:pic>
      <p:pic>
        <p:nvPicPr>
          <p:cNvPr id="39" name="Picture 38">
            <a:extLst>
              <a:ext uri="{FF2B5EF4-FFF2-40B4-BE49-F238E27FC236}">
                <a16:creationId xmlns:a16="http://schemas.microsoft.com/office/drawing/2014/main" id="{82FE7CA1-2808-7164-0303-3C0C75BE8283}"/>
              </a:ext>
            </a:extLst>
          </p:cNvPr>
          <p:cNvPicPr>
            <a:picLocks noChangeAspect="1"/>
          </p:cNvPicPr>
          <p:nvPr/>
        </p:nvPicPr>
        <p:blipFill>
          <a:blip r:embed="rId11"/>
          <a:stretch>
            <a:fillRect/>
          </a:stretch>
        </p:blipFill>
        <p:spPr>
          <a:xfrm>
            <a:off x="6308361" y="2514762"/>
            <a:ext cx="2877713" cy="199789"/>
          </a:xfrm>
          <a:prstGeom prst="rect">
            <a:avLst/>
          </a:prstGeom>
        </p:spPr>
      </p:pic>
      <p:pic>
        <p:nvPicPr>
          <p:cNvPr id="41" name="Picture 40">
            <a:extLst>
              <a:ext uri="{FF2B5EF4-FFF2-40B4-BE49-F238E27FC236}">
                <a16:creationId xmlns:a16="http://schemas.microsoft.com/office/drawing/2014/main" id="{F432B56D-5CE3-5F5B-5399-23748C3792EB}"/>
              </a:ext>
            </a:extLst>
          </p:cNvPr>
          <p:cNvPicPr>
            <a:picLocks noChangeAspect="1"/>
          </p:cNvPicPr>
          <p:nvPr/>
        </p:nvPicPr>
        <p:blipFill>
          <a:blip r:embed="rId12"/>
          <a:stretch>
            <a:fillRect/>
          </a:stretch>
        </p:blipFill>
        <p:spPr>
          <a:xfrm>
            <a:off x="6308361" y="2806074"/>
            <a:ext cx="3904762" cy="179292"/>
          </a:xfrm>
          <a:prstGeom prst="rect">
            <a:avLst/>
          </a:prstGeom>
        </p:spPr>
      </p:pic>
      <p:sp>
        <p:nvSpPr>
          <p:cNvPr id="42" name="TextBox 41">
            <a:extLst>
              <a:ext uri="{FF2B5EF4-FFF2-40B4-BE49-F238E27FC236}">
                <a16:creationId xmlns:a16="http://schemas.microsoft.com/office/drawing/2014/main" id="{2529AF51-772A-698A-E10D-CFCA07C3B70F}"/>
              </a:ext>
            </a:extLst>
          </p:cNvPr>
          <p:cNvSpPr txBox="1"/>
          <p:nvPr/>
        </p:nvSpPr>
        <p:spPr>
          <a:xfrm>
            <a:off x="893086" y="3690130"/>
            <a:ext cx="10405825" cy="646331"/>
          </a:xfrm>
          <a:prstGeom prst="rect">
            <a:avLst/>
          </a:prstGeom>
          <a:noFill/>
        </p:spPr>
        <p:txBody>
          <a:bodyPr wrap="square" rtlCol="0">
            <a:spAutoFit/>
          </a:bodyPr>
          <a:lstStyle/>
          <a:p>
            <a:r>
              <a:rPr lang="en-US" noProof="0" dirty="0"/>
              <a:t>For the N particles we introduce a metric tensor of the 3N dimensional manifold that results from taking N spatial foils of Schwarzschild metric at constant imaginary times</a:t>
            </a:r>
          </a:p>
        </p:txBody>
      </p:sp>
      <p:pic>
        <p:nvPicPr>
          <p:cNvPr id="45" name="Picture 44">
            <a:extLst>
              <a:ext uri="{FF2B5EF4-FFF2-40B4-BE49-F238E27FC236}">
                <a16:creationId xmlns:a16="http://schemas.microsoft.com/office/drawing/2014/main" id="{2D14532A-4861-9425-DE0D-A6177E340CAD}"/>
              </a:ext>
            </a:extLst>
          </p:cNvPr>
          <p:cNvPicPr>
            <a:picLocks noChangeAspect="1"/>
          </p:cNvPicPr>
          <p:nvPr/>
        </p:nvPicPr>
        <p:blipFill>
          <a:blip r:embed="rId13"/>
          <a:stretch>
            <a:fillRect/>
          </a:stretch>
        </p:blipFill>
        <p:spPr>
          <a:xfrm>
            <a:off x="6290375" y="3097691"/>
            <a:ext cx="1338961" cy="225705"/>
          </a:xfrm>
          <a:prstGeom prst="rect">
            <a:avLst/>
          </a:prstGeom>
        </p:spPr>
      </p:pic>
      <p:sp>
        <p:nvSpPr>
          <p:cNvPr id="46" name="TextBox 45">
            <a:extLst>
              <a:ext uri="{FF2B5EF4-FFF2-40B4-BE49-F238E27FC236}">
                <a16:creationId xmlns:a16="http://schemas.microsoft.com/office/drawing/2014/main" id="{E4D0D3BB-D9D3-58DF-02A3-5B227846260E}"/>
              </a:ext>
            </a:extLst>
          </p:cNvPr>
          <p:cNvSpPr txBox="1"/>
          <p:nvPr/>
        </p:nvSpPr>
        <p:spPr>
          <a:xfrm>
            <a:off x="1433964" y="1448704"/>
            <a:ext cx="8505277" cy="369332"/>
          </a:xfrm>
          <a:prstGeom prst="rect">
            <a:avLst/>
          </a:prstGeom>
          <a:noFill/>
        </p:spPr>
        <p:txBody>
          <a:bodyPr wrap="none" rtlCol="0">
            <a:spAutoFit/>
          </a:bodyPr>
          <a:lstStyle/>
          <a:p>
            <a:r>
              <a:rPr lang="en-US" noProof="0" dirty="0"/>
              <a:t>Schwarzschild solution of Einstein field equations in vacuum in imaginary time for a mass </a:t>
            </a:r>
          </a:p>
        </p:txBody>
      </p:sp>
      <p:pic>
        <p:nvPicPr>
          <p:cNvPr id="48" name="Picture 47">
            <a:extLst>
              <a:ext uri="{FF2B5EF4-FFF2-40B4-BE49-F238E27FC236}">
                <a16:creationId xmlns:a16="http://schemas.microsoft.com/office/drawing/2014/main" id="{4D5BFF70-024C-11E6-3C15-9E61DBFB4873}"/>
              </a:ext>
            </a:extLst>
          </p:cNvPr>
          <p:cNvPicPr>
            <a:picLocks noChangeAspect="1"/>
          </p:cNvPicPr>
          <p:nvPr/>
        </p:nvPicPr>
        <p:blipFill>
          <a:blip r:embed="rId14"/>
          <a:stretch>
            <a:fillRect/>
          </a:stretch>
        </p:blipFill>
        <p:spPr>
          <a:xfrm>
            <a:off x="9830351" y="1571490"/>
            <a:ext cx="217780" cy="150117"/>
          </a:xfrm>
          <a:prstGeom prst="rect">
            <a:avLst/>
          </a:prstGeom>
        </p:spPr>
      </p:pic>
      <p:sp>
        <p:nvSpPr>
          <p:cNvPr id="49" name="TextBox 48">
            <a:extLst>
              <a:ext uri="{FF2B5EF4-FFF2-40B4-BE49-F238E27FC236}">
                <a16:creationId xmlns:a16="http://schemas.microsoft.com/office/drawing/2014/main" id="{F2A56BF5-5904-C670-BFEC-21AAAD958E50}"/>
              </a:ext>
            </a:extLst>
          </p:cNvPr>
          <p:cNvSpPr txBox="1"/>
          <p:nvPr/>
        </p:nvSpPr>
        <p:spPr>
          <a:xfrm>
            <a:off x="589830" y="5787926"/>
            <a:ext cx="10970799" cy="646331"/>
          </a:xfrm>
          <a:prstGeom prst="rect">
            <a:avLst/>
          </a:prstGeom>
          <a:noFill/>
        </p:spPr>
        <p:txBody>
          <a:bodyPr wrap="square" rtlCol="0">
            <a:spAutoFit/>
          </a:bodyPr>
          <a:lstStyle/>
          <a:p>
            <a:r>
              <a:rPr lang="en-US" noProof="0" dirty="0"/>
              <a:t>From now on we will use natural Planck units c=G=ħ=k</a:t>
            </a:r>
            <a:r>
              <a:rPr lang="en-US" baseline="-25000" noProof="0" dirty="0"/>
              <a:t>B</a:t>
            </a:r>
            <a:r>
              <a:rPr lang="en-US" noProof="0" dirty="0"/>
              <a:t>=1 where c is the speed of light, ħ is the reduced Planck constant, G is the gravitational constant, and k</a:t>
            </a:r>
            <a:r>
              <a:rPr lang="en-US" baseline="-25000" noProof="0" dirty="0"/>
              <a:t>B</a:t>
            </a:r>
            <a:r>
              <a:rPr lang="en-US" noProof="0" dirty="0"/>
              <a:t> is the Boltzmann constant.</a:t>
            </a:r>
          </a:p>
        </p:txBody>
      </p:sp>
    </p:spTree>
    <p:extLst>
      <p:ext uri="{BB962C8B-B14F-4D97-AF65-F5344CB8AC3E}">
        <p14:creationId xmlns:p14="http://schemas.microsoft.com/office/powerpoint/2010/main" val="3819818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13C89C-9503-0DE5-E5D3-86CD1A2F1C7B}"/>
              </a:ext>
            </a:extLst>
          </p:cNvPr>
          <p:cNvSpPr txBox="1"/>
          <p:nvPr/>
        </p:nvSpPr>
        <p:spPr>
          <a:xfrm>
            <a:off x="1786903" y="478972"/>
            <a:ext cx="8618193" cy="1384995"/>
          </a:xfrm>
          <a:prstGeom prst="rect">
            <a:avLst/>
          </a:prstGeom>
          <a:noFill/>
        </p:spPr>
        <p:txBody>
          <a:bodyPr wrap="none" rtlCol="0">
            <a:spAutoFit/>
          </a:bodyPr>
          <a:lstStyle/>
          <a:p>
            <a:r>
              <a:rPr lang="en-US" sz="2800" b="1" noProof="0" dirty="0"/>
              <a:t>The position representation of the matter density matrix</a:t>
            </a:r>
          </a:p>
          <a:p>
            <a:pPr algn="ctr"/>
            <a:r>
              <a:rPr lang="en-US" sz="2800" b="1" noProof="0" dirty="0"/>
              <a:t>on constant imaginary time spatial foils of </a:t>
            </a:r>
          </a:p>
          <a:p>
            <a:pPr algn="ctr"/>
            <a:r>
              <a:rPr lang="en-US" sz="2800" b="1" noProof="0" dirty="0"/>
              <a:t>Schwarzschild metric </a:t>
            </a:r>
          </a:p>
        </p:txBody>
      </p:sp>
      <p:pic>
        <p:nvPicPr>
          <p:cNvPr id="7" name="Picture 6">
            <a:extLst>
              <a:ext uri="{FF2B5EF4-FFF2-40B4-BE49-F238E27FC236}">
                <a16:creationId xmlns:a16="http://schemas.microsoft.com/office/drawing/2014/main" id="{830C9D93-9061-B004-F0FB-E196038A192B}"/>
              </a:ext>
            </a:extLst>
          </p:cNvPr>
          <p:cNvPicPr>
            <a:picLocks noChangeAspect="1"/>
          </p:cNvPicPr>
          <p:nvPr/>
        </p:nvPicPr>
        <p:blipFill>
          <a:blip r:embed="rId2"/>
          <a:stretch>
            <a:fillRect/>
          </a:stretch>
        </p:blipFill>
        <p:spPr>
          <a:xfrm>
            <a:off x="1463527" y="5667829"/>
            <a:ext cx="9619048" cy="589385"/>
          </a:xfrm>
          <a:prstGeom prst="rect">
            <a:avLst/>
          </a:prstGeom>
        </p:spPr>
      </p:pic>
      <p:pic>
        <p:nvPicPr>
          <p:cNvPr id="9" name="Picture 8">
            <a:extLst>
              <a:ext uri="{FF2B5EF4-FFF2-40B4-BE49-F238E27FC236}">
                <a16:creationId xmlns:a16="http://schemas.microsoft.com/office/drawing/2014/main" id="{FFBCA921-DDED-7292-C7CF-B83DF58F7549}"/>
              </a:ext>
            </a:extLst>
          </p:cNvPr>
          <p:cNvPicPr>
            <a:picLocks noChangeAspect="1"/>
          </p:cNvPicPr>
          <p:nvPr/>
        </p:nvPicPr>
        <p:blipFill>
          <a:blip r:embed="rId3"/>
          <a:stretch>
            <a:fillRect/>
          </a:stretch>
        </p:blipFill>
        <p:spPr>
          <a:xfrm>
            <a:off x="5374656" y="2436738"/>
            <a:ext cx="1442675" cy="427328"/>
          </a:xfrm>
          <a:prstGeom prst="rect">
            <a:avLst/>
          </a:prstGeom>
        </p:spPr>
      </p:pic>
      <p:pic>
        <p:nvPicPr>
          <p:cNvPr id="11" name="Picture 10">
            <a:extLst>
              <a:ext uri="{FF2B5EF4-FFF2-40B4-BE49-F238E27FC236}">
                <a16:creationId xmlns:a16="http://schemas.microsoft.com/office/drawing/2014/main" id="{02421E50-52D5-6AE0-C5AA-36721D13B2F3}"/>
              </a:ext>
            </a:extLst>
          </p:cNvPr>
          <p:cNvPicPr>
            <a:picLocks noChangeAspect="1"/>
          </p:cNvPicPr>
          <p:nvPr/>
        </p:nvPicPr>
        <p:blipFill>
          <a:blip r:embed="rId4"/>
          <a:stretch>
            <a:fillRect/>
          </a:stretch>
        </p:blipFill>
        <p:spPr>
          <a:xfrm>
            <a:off x="5510541" y="2913110"/>
            <a:ext cx="762510" cy="231449"/>
          </a:xfrm>
          <a:prstGeom prst="rect">
            <a:avLst/>
          </a:prstGeom>
        </p:spPr>
      </p:pic>
      <p:sp>
        <p:nvSpPr>
          <p:cNvPr id="12" name="TextBox 11">
            <a:extLst>
              <a:ext uri="{FF2B5EF4-FFF2-40B4-BE49-F238E27FC236}">
                <a16:creationId xmlns:a16="http://schemas.microsoft.com/office/drawing/2014/main" id="{AB81354E-53FD-D8F2-C493-6018F52FE549}"/>
              </a:ext>
            </a:extLst>
          </p:cNvPr>
          <p:cNvSpPr txBox="1"/>
          <p:nvPr/>
        </p:nvSpPr>
        <p:spPr>
          <a:xfrm>
            <a:off x="2009589" y="3206768"/>
            <a:ext cx="8172815" cy="369332"/>
          </a:xfrm>
          <a:prstGeom prst="rect">
            <a:avLst/>
          </a:prstGeom>
          <a:noFill/>
        </p:spPr>
        <p:txBody>
          <a:bodyPr wrap="none" rtlCol="0">
            <a:spAutoFit/>
          </a:bodyPr>
          <a:lstStyle/>
          <a:p>
            <a:r>
              <a:rPr lang="en-US" noProof="0" dirty="0"/>
              <a:t>In the small imaginary time τ limit the position representation of the density matrix is</a:t>
            </a:r>
          </a:p>
        </p:txBody>
      </p:sp>
      <p:sp>
        <p:nvSpPr>
          <p:cNvPr id="13" name="TextBox 12">
            <a:extLst>
              <a:ext uri="{FF2B5EF4-FFF2-40B4-BE49-F238E27FC236}">
                <a16:creationId xmlns:a16="http://schemas.microsoft.com/office/drawing/2014/main" id="{99E1DACE-9CCE-CA1C-B924-07395AA8DE26}"/>
              </a:ext>
            </a:extLst>
          </p:cNvPr>
          <p:cNvSpPr txBox="1"/>
          <p:nvPr/>
        </p:nvSpPr>
        <p:spPr>
          <a:xfrm>
            <a:off x="4056557" y="1908653"/>
            <a:ext cx="4078874" cy="369332"/>
          </a:xfrm>
          <a:prstGeom prst="rect">
            <a:avLst/>
          </a:prstGeom>
          <a:noFill/>
        </p:spPr>
        <p:txBody>
          <a:bodyPr wrap="none" rtlCol="0">
            <a:spAutoFit/>
          </a:bodyPr>
          <a:lstStyle/>
          <a:p>
            <a:r>
              <a:rPr lang="en-US" noProof="0" dirty="0"/>
              <a:t>The Bloch equation for the density matrix</a:t>
            </a:r>
          </a:p>
        </p:txBody>
      </p:sp>
      <p:pic>
        <p:nvPicPr>
          <p:cNvPr id="16" name="Picture 15">
            <a:extLst>
              <a:ext uri="{FF2B5EF4-FFF2-40B4-BE49-F238E27FC236}">
                <a16:creationId xmlns:a16="http://schemas.microsoft.com/office/drawing/2014/main" id="{117293D5-7F5B-0EDE-B84B-BFDE49FB38B1}"/>
              </a:ext>
            </a:extLst>
          </p:cNvPr>
          <p:cNvPicPr>
            <a:picLocks noChangeAspect="1"/>
          </p:cNvPicPr>
          <p:nvPr/>
        </p:nvPicPr>
        <p:blipFill>
          <a:blip r:embed="rId5"/>
          <a:stretch>
            <a:fillRect/>
          </a:stretch>
        </p:blipFill>
        <p:spPr>
          <a:xfrm>
            <a:off x="5016468" y="3697993"/>
            <a:ext cx="2159049" cy="248738"/>
          </a:xfrm>
          <a:prstGeom prst="rect">
            <a:avLst/>
          </a:prstGeom>
        </p:spPr>
      </p:pic>
      <p:sp>
        <p:nvSpPr>
          <p:cNvPr id="17" name="TextBox 16">
            <a:extLst>
              <a:ext uri="{FF2B5EF4-FFF2-40B4-BE49-F238E27FC236}">
                <a16:creationId xmlns:a16="http://schemas.microsoft.com/office/drawing/2014/main" id="{EC76C816-D82A-FA74-59A3-BBEE364CDFEE}"/>
              </a:ext>
            </a:extLst>
          </p:cNvPr>
          <p:cNvSpPr txBox="1"/>
          <p:nvPr/>
        </p:nvSpPr>
        <p:spPr>
          <a:xfrm>
            <a:off x="2009589" y="3918802"/>
            <a:ext cx="2188612" cy="369332"/>
          </a:xfrm>
          <a:prstGeom prst="rect">
            <a:avLst/>
          </a:prstGeom>
          <a:noFill/>
        </p:spPr>
        <p:txBody>
          <a:bodyPr wrap="none" rtlCol="0">
            <a:spAutoFit/>
          </a:bodyPr>
          <a:lstStyle/>
          <a:p>
            <a:r>
              <a:rPr lang="en-US" noProof="0" dirty="0"/>
              <a:t>where S is the action </a:t>
            </a:r>
          </a:p>
        </p:txBody>
      </p:sp>
      <p:sp>
        <p:nvSpPr>
          <p:cNvPr id="20" name="TextBox 19">
            <a:extLst>
              <a:ext uri="{FF2B5EF4-FFF2-40B4-BE49-F238E27FC236}">
                <a16:creationId xmlns:a16="http://schemas.microsoft.com/office/drawing/2014/main" id="{7805A2C0-3763-4D38-3EA7-BE7537711E1B}"/>
              </a:ext>
            </a:extLst>
          </p:cNvPr>
          <p:cNvSpPr txBox="1"/>
          <p:nvPr/>
        </p:nvSpPr>
        <p:spPr>
          <a:xfrm>
            <a:off x="769666" y="4771129"/>
            <a:ext cx="10812734" cy="646331"/>
          </a:xfrm>
          <a:prstGeom prst="rect">
            <a:avLst/>
          </a:prstGeom>
          <a:noFill/>
        </p:spPr>
        <p:txBody>
          <a:bodyPr wrap="square" rtlCol="0">
            <a:spAutoFit/>
          </a:bodyPr>
          <a:lstStyle/>
          <a:p>
            <a:r>
              <a:rPr lang="en-US" noProof="0" dirty="0"/>
              <a:t>with </a:t>
            </a:r>
            <a:r>
              <a:rPr lang="en-US" noProof="0" dirty="0" err="1"/>
              <a:t>τK</a:t>
            </a:r>
            <a:r>
              <a:rPr lang="en-US" noProof="0" dirty="0"/>
              <a:t> the kinetic action and </a:t>
            </a:r>
            <a:r>
              <a:rPr lang="en-US" noProof="0" dirty="0" err="1"/>
              <a:t>τU</a:t>
            </a:r>
            <a:r>
              <a:rPr lang="en-US" noProof="0" dirty="0"/>
              <a:t> the inter action of the N particles. At an imaginary time β=</a:t>
            </a:r>
            <a:r>
              <a:rPr lang="en-US" noProof="0" dirty="0" err="1"/>
              <a:t>Mτ</a:t>
            </a:r>
            <a:r>
              <a:rPr lang="en-US" noProof="0" dirty="0"/>
              <a:t>=1/T, with T the absolute temperature, we can expand in a path integral</a:t>
            </a:r>
          </a:p>
        </p:txBody>
      </p:sp>
      <p:pic>
        <p:nvPicPr>
          <p:cNvPr id="22" name="Picture 21">
            <a:extLst>
              <a:ext uri="{FF2B5EF4-FFF2-40B4-BE49-F238E27FC236}">
                <a16:creationId xmlns:a16="http://schemas.microsoft.com/office/drawing/2014/main" id="{F02C28D3-6FDC-688F-E533-335E4DE04748}"/>
              </a:ext>
            </a:extLst>
          </p:cNvPr>
          <p:cNvPicPr>
            <a:picLocks noChangeAspect="1"/>
          </p:cNvPicPr>
          <p:nvPr/>
        </p:nvPicPr>
        <p:blipFill>
          <a:blip r:embed="rId6"/>
          <a:stretch>
            <a:fillRect/>
          </a:stretch>
        </p:blipFill>
        <p:spPr>
          <a:xfrm>
            <a:off x="4276463" y="4381703"/>
            <a:ext cx="3639058" cy="211313"/>
          </a:xfrm>
          <a:prstGeom prst="rect">
            <a:avLst/>
          </a:prstGeom>
        </p:spPr>
      </p:pic>
    </p:spTree>
    <p:extLst>
      <p:ext uri="{BB962C8B-B14F-4D97-AF65-F5344CB8AC3E}">
        <p14:creationId xmlns:p14="http://schemas.microsoft.com/office/powerpoint/2010/main" val="3444619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7CB031-8C7B-1121-F03A-1B3EDCAE72A5}"/>
              </a:ext>
            </a:extLst>
          </p:cNvPr>
          <p:cNvSpPr txBox="1"/>
          <p:nvPr/>
        </p:nvSpPr>
        <p:spPr>
          <a:xfrm>
            <a:off x="4508129" y="500743"/>
            <a:ext cx="3175741" cy="523220"/>
          </a:xfrm>
          <a:prstGeom prst="rect">
            <a:avLst/>
          </a:prstGeom>
          <a:noFill/>
        </p:spPr>
        <p:txBody>
          <a:bodyPr wrap="none" rtlCol="0">
            <a:spAutoFit/>
          </a:bodyPr>
          <a:lstStyle/>
          <a:p>
            <a:r>
              <a:rPr lang="en-US" sz="2800" b="1" noProof="0" dirty="0"/>
              <a:t>The primitive action</a:t>
            </a:r>
          </a:p>
        </p:txBody>
      </p:sp>
      <p:sp>
        <p:nvSpPr>
          <p:cNvPr id="3" name="TextBox 2">
            <a:extLst>
              <a:ext uri="{FF2B5EF4-FFF2-40B4-BE49-F238E27FC236}">
                <a16:creationId xmlns:a16="http://schemas.microsoft.com/office/drawing/2014/main" id="{3F9FAF57-E5C3-1559-6BFF-743D6678A6AD}"/>
              </a:ext>
            </a:extLst>
          </p:cNvPr>
          <p:cNvSpPr txBox="1"/>
          <p:nvPr/>
        </p:nvSpPr>
        <p:spPr>
          <a:xfrm>
            <a:off x="642258" y="1338942"/>
            <a:ext cx="2091022" cy="369332"/>
          </a:xfrm>
          <a:prstGeom prst="rect">
            <a:avLst/>
          </a:prstGeom>
          <a:noFill/>
        </p:spPr>
        <p:txBody>
          <a:bodyPr wrap="none" rtlCol="0">
            <a:spAutoFit/>
          </a:bodyPr>
          <a:lstStyle/>
          <a:p>
            <a:r>
              <a:rPr lang="en-US" noProof="0" dirty="0"/>
              <a:t>The </a:t>
            </a:r>
            <a:r>
              <a:rPr lang="en-US" i="1" noProof="0" dirty="0"/>
              <a:t>kinetic action </a:t>
            </a:r>
            <a:r>
              <a:rPr lang="en-US" noProof="0" dirty="0"/>
              <a:t>is </a:t>
            </a:r>
          </a:p>
        </p:txBody>
      </p:sp>
      <p:sp>
        <p:nvSpPr>
          <p:cNvPr id="6" name="TextBox 5">
            <a:extLst>
              <a:ext uri="{FF2B5EF4-FFF2-40B4-BE49-F238E27FC236}">
                <a16:creationId xmlns:a16="http://schemas.microsoft.com/office/drawing/2014/main" id="{BF7BC4B9-2D94-597E-7397-D7D6585726A7}"/>
              </a:ext>
            </a:extLst>
          </p:cNvPr>
          <p:cNvSpPr txBox="1"/>
          <p:nvPr/>
        </p:nvSpPr>
        <p:spPr>
          <a:xfrm>
            <a:off x="642258" y="2351314"/>
            <a:ext cx="1859996" cy="369332"/>
          </a:xfrm>
          <a:prstGeom prst="rect">
            <a:avLst/>
          </a:prstGeom>
          <a:noFill/>
        </p:spPr>
        <p:txBody>
          <a:bodyPr wrap="none" rtlCol="0">
            <a:spAutoFit/>
          </a:bodyPr>
          <a:lstStyle/>
          <a:p>
            <a:r>
              <a:rPr lang="en-US" noProof="0" dirty="0"/>
              <a:t>The </a:t>
            </a:r>
            <a:r>
              <a:rPr lang="en-US" i="1" noProof="0" dirty="0"/>
              <a:t>inter action </a:t>
            </a:r>
            <a:r>
              <a:rPr lang="en-US" noProof="0" dirty="0"/>
              <a:t>is</a:t>
            </a:r>
          </a:p>
        </p:txBody>
      </p:sp>
      <p:pic>
        <p:nvPicPr>
          <p:cNvPr id="12" name="Picture 11">
            <a:extLst>
              <a:ext uri="{FF2B5EF4-FFF2-40B4-BE49-F238E27FC236}">
                <a16:creationId xmlns:a16="http://schemas.microsoft.com/office/drawing/2014/main" id="{93379DD2-CEF9-7349-3681-3AEF320E6E12}"/>
              </a:ext>
            </a:extLst>
          </p:cNvPr>
          <p:cNvPicPr>
            <a:picLocks noChangeAspect="1"/>
          </p:cNvPicPr>
          <p:nvPr/>
        </p:nvPicPr>
        <p:blipFill>
          <a:blip r:embed="rId2"/>
          <a:stretch>
            <a:fillRect/>
          </a:stretch>
        </p:blipFill>
        <p:spPr>
          <a:xfrm>
            <a:off x="3180299" y="1232361"/>
            <a:ext cx="2636003" cy="582493"/>
          </a:xfrm>
          <a:prstGeom prst="rect">
            <a:avLst/>
          </a:prstGeom>
        </p:spPr>
      </p:pic>
      <p:sp>
        <p:nvSpPr>
          <p:cNvPr id="13" name="TextBox 12">
            <a:extLst>
              <a:ext uri="{FF2B5EF4-FFF2-40B4-BE49-F238E27FC236}">
                <a16:creationId xmlns:a16="http://schemas.microsoft.com/office/drawing/2014/main" id="{42DBE2DD-42C9-CB4F-B987-2B84A624F257}"/>
              </a:ext>
            </a:extLst>
          </p:cNvPr>
          <p:cNvSpPr txBox="1"/>
          <p:nvPr/>
        </p:nvSpPr>
        <p:spPr>
          <a:xfrm>
            <a:off x="6375700" y="1338549"/>
            <a:ext cx="779572" cy="369332"/>
          </a:xfrm>
          <a:prstGeom prst="rect">
            <a:avLst/>
          </a:prstGeom>
          <a:noFill/>
        </p:spPr>
        <p:txBody>
          <a:bodyPr wrap="none" rtlCol="0">
            <a:spAutoFit/>
          </a:bodyPr>
          <a:lstStyle/>
          <a:p>
            <a:r>
              <a:rPr lang="en-US" noProof="0" dirty="0"/>
              <a:t>where</a:t>
            </a:r>
          </a:p>
        </p:txBody>
      </p:sp>
      <p:pic>
        <p:nvPicPr>
          <p:cNvPr id="15" name="Picture 14">
            <a:extLst>
              <a:ext uri="{FF2B5EF4-FFF2-40B4-BE49-F238E27FC236}">
                <a16:creationId xmlns:a16="http://schemas.microsoft.com/office/drawing/2014/main" id="{F6E598CF-69AE-45FF-618F-92E6F2C269FA}"/>
              </a:ext>
            </a:extLst>
          </p:cNvPr>
          <p:cNvPicPr>
            <a:picLocks noChangeAspect="1"/>
          </p:cNvPicPr>
          <p:nvPr/>
        </p:nvPicPr>
        <p:blipFill>
          <a:blip r:embed="rId3"/>
          <a:stretch>
            <a:fillRect/>
          </a:stretch>
        </p:blipFill>
        <p:spPr>
          <a:xfrm>
            <a:off x="7478501" y="1383070"/>
            <a:ext cx="3570484" cy="262774"/>
          </a:xfrm>
          <a:prstGeom prst="rect">
            <a:avLst/>
          </a:prstGeom>
        </p:spPr>
      </p:pic>
      <p:sp>
        <p:nvSpPr>
          <p:cNvPr id="16" name="TextBox 15">
            <a:extLst>
              <a:ext uri="{FF2B5EF4-FFF2-40B4-BE49-F238E27FC236}">
                <a16:creationId xmlns:a16="http://schemas.microsoft.com/office/drawing/2014/main" id="{B372FC58-F201-DC22-12A3-76D8E2E9CA5A}"/>
              </a:ext>
            </a:extLst>
          </p:cNvPr>
          <p:cNvSpPr txBox="1"/>
          <p:nvPr/>
        </p:nvSpPr>
        <p:spPr>
          <a:xfrm>
            <a:off x="8164285" y="2351314"/>
            <a:ext cx="779572" cy="369332"/>
          </a:xfrm>
          <a:prstGeom prst="rect">
            <a:avLst/>
          </a:prstGeom>
          <a:noFill/>
        </p:spPr>
        <p:txBody>
          <a:bodyPr wrap="none" rtlCol="0">
            <a:spAutoFit/>
          </a:bodyPr>
          <a:lstStyle/>
          <a:p>
            <a:r>
              <a:rPr lang="en-US" noProof="0" dirty="0"/>
              <a:t>where</a:t>
            </a:r>
          </a:p>
        </p:txBody>
      </p:sp>
      <p:pic>
        <p:nvPicPr>
          <p:cNvPr id="18" name="Picture 17">
            <a:extLst>
              <a:ext uri="{FF2B5EF4-FFF2-40B4-BE49-F238E27FC236}">
                <a16:creationId xmlns:a16="http://schemas.microsoft.com/office/drawing/2014/main" id="{CA833898-F03A-E3A3-E706-A9518D8FC901}"/>
              </a:ext>
            </a:extLst>
          </p:cNvPr>
          <p:cNvPicPr>
            <a:picLocks noChangeAspect="1"/>
          </p:cNvPicPr>
          <p:nvPr/>
        </p:nvPicPr>
        <p:blipFill>
          <a:blip r:embed="rId4"/>
          <a:stretch>
            <a:fillRect/>
          </a:stretch>
        </p:blipFill>
        <p:spPr>
          <a:xfrm>
            <a:off x="1687769" y="3033994"/>
            <a:ext cx="8443152" cy="757895"/>
          </a:xfrm>
          <a:prstGeom prst="rect">
            <a:avLst/>
          </a:prstGeom>
        </p:spPr>
      </p:pic>
      <p:pic>
        <p:nvPicPr>
          <p:cNvPr id="20" name="Picture 19">
            <a:extLst>
              <a:ext uri="{FF2B5EF4-FFF2-40B4-BE49-F238E27FC236}">
                <a16:creationId xmlns:a16="http://schemas.microsoft.com/office/drawing/2014/main" id="{A6F52581-A857-BC5E-6A3E-D1373F99BEB4}"/>
              </a:ext>
            </a:extLst>
          </p:cNvPr>
          <p:cNvPicPr>
            <a:picLocks noChangeAspect="1"/>
          </p:cNvPicPr>
          <p:nvPr/>
        </p:nvPicPr>
        <p:blipFill>
          <a:blip r:embed="rId5"/>
          <a:stretch>
            <a:fillRect/>
          </a:stretch>
        </p:blipFill>
        <p:spPr>
          <a:xfrm>
            <a:off x="3180299" y="2235582"/>
            <a:ext cx="4492861" cy="600795"/>
          </a:xfrm>
          <a:prstGeom prst="rect">
            <a:avLst/>
          </a:prstGeom>
        </p:spPr>
      </p:pic>
      <p:sp>
        <p:nvSpPr>
          <p:cNvPr id="21" name="TextBox 20">
            <a:extLst>
              <a:ext uri="{FF2B5EF4-FFF2-40B4-BE49-F238E27FC236}">
                <a16:creationId xmlns:a16="http://schemas.microsoft.com/office/drawing/2014/main" id="{7D5F9B12-7C43-1C15-175E-9D8127C336D7}"/>
              </a:ext>
            </a:extLst>
          </p:cNvPr>
          <p:cNvSpPr txBox="1"/>
          <p:nvPr/>
        </p:nvSpPr>
        <p:spPr>
          <a:xfrm>
            <a:off x="757811" y="4322490"/>
            <a:ext cx="10889903" cy="646331"/>
          </a:xfrm>
          <a:prstGeom prst="rect">
            <a:avLst/>
          </a:prstGeom>
          <a:noFill/>
        </p:spPr>
        <p:txBody>
          <a:bodyPr wrap="square" rtlCol="0">
            <a:spAutoFit/>
          </a:bodyPr>
          <a:lstStyle/>
          <a:p>
            <a:r>
              <a:rPr lang="en-US" noProof="0" dirty="0"/>
              <a:t>is the Copson-Linet pair potential between two charges q</a:t>
            </a:r>
            <a:r>
              <a:rPr lang="en-US" baseline="-25000" noProof="0" dirty="0"/>
              <a:t>1</a:t>
            </a:r>
            <a:r>
              <a:rPr lang="en-US" noProof="0" dirty="0"/>
              <a:t> and q</a:t>
            </a:r>
            <a:r>
              <a:rPr lang="en-US" baseline="-25000" noProof="0" dirty="0"/>
              <a:t>2</a:t>
            </a:r>
            <a:r>
              <a:rPr lang="en-US" noProof="0" dirty="0"/>
              <a:t> on the Schwarzschild spatial foil. The following two limits hold</a:t>
            </a:r>
          </a:p>
        </p:txBody>
      </p:sp>
      <p:pic>
        <p:nvPicPr>
          <p:cNvPr id="23" name="Picture 22">
            <a:extLst>
              <a:ext uri="{FF2B5EF4-FFF2-40B4-BE49-F238E27FC236}">
                <a16:creationId xmlns:a16="http://schemas.microsoft.com/office/drawing/2014/main" id="{64FB0904-9E70-31B7-76E2-8A33D1DF8B6F}"/>
              </a:ext>
            </a:extLst>
          </p:cNvPr>
          <p:cNvPicPr>
            <a:picLocks noChangeAspect="1"/>
          </p:cNvPicPr>
          <p:nvPr/>
        </p:nvPicPr>
        <p:blipFill>
          <a:blip r:embed="rId6"/>
          <a:stretch>
            <a:fillRect/>
          </a:stretch>
        </p:blipFill>
        <p:spPr>
          <a:xfrm>
            <a:off x="1830039" y="3989769"/>
            <a:ext cx="4177637" cy="199420"/>
          </a:xfrm>
          <a:prstGeom prst="rect">
            <a:avLst/>
          </a:prstGeom>
        </p:spPr>
      </p:pic>
      <p:pic>
        <p:nvPicPr>
          <p:cNvPr id="25" name="Picture 24">
            <a:extLst>
              <a:ext uri="{FF2B5EF4-FFF2-40B4-BE49-F238E27FC236}">
                <a16:creationId xmlns:a16="http://schemas.microsoft.com/office/drawing/2014/main" id="{21AAB467-C66C-E7B6-D6AF-FF1C727A952B}"/>
              </a:ext>
            </a:extLst>
          </p:cNvPr>
          <p:cNvPicPr>
            <a:picLocks noChangeAspect="1"/>
          </p:cNvPicPr>
          <p:nvPr/>
        </p:nvPicPr>
        <p:blipFill>
          <a:blip r:embed="rId7"/>
          <a:stretch>
            <a:fillRect/>
          </a:stretch>
        </p:blipFill>
        <p:spPr>
          <a:xfrm>
            <a:off x="4386596" y="4946001"/>
            <a:ext cx="2859412" cy="501445"/>
          </a:xfrm>
          <a:prstGeom prst="rect">
            <a:avLst/>
          </a:prstGeom>
        </p:spPr>
      </p:pic>
      <p:sp>
        <p:nvSpPr>
          <p:cNvPr id="26" name="TextBox 25">
            <a:extLst>
              <a:ext uri="{FF2B5EF4-FFF2-40B4-BE49-F238E27FC236}">
                <a16:creationId xmlns:a16="http://schemas.microsoft.com/office/drawing/2014/main" id="{CDB98706-A358-6BA5-F22A-2B97413259EC}"/>
              </a:ext>
            </a:extLst>
          </p:cNvPr>
          <p:cNvSpPr txBox="1"/>
          <p:nvPr/>
        </p:nvSpPr>
        <p:spPr>
          <a:xfrm>
            <a:off x="846990" y="5747791"/>
            <a:ext cx="10711543" cy="646331"/>
          </a:xfrm>
          <a:prstGeom prst="rect">
            <a:avLst/>
          </a:prstGeom>
          <a:noFill/>
        </p:spPr>
        <p:txBody>
          <a:bodyPr wrap="square" rtlCol="0">
            <a:spAutoFit/>
          </a:bodyPr>
          <a:lstStyle/>
          <a:p>
            <a:pPr algn="just"/>
            <a:r>
              <a:rPr lang="en-US" noProof="0" dirty="0"/>
              <a:t>We may then introduce a Coulomb coupling constant Γ= βe</a:t>
            </a:r>
            <a:r>
              <a:rPr lang="en-US" baseline="30000" noProof="0" dirty="0"/>
              <a:t>2</a:t>
            </a:r>
            <a:r>
              <a:rPr lang="en-US" noProof="0" dirty="0"/>
              <a:t>/</a:t>
            </a:r>
            <a:r>
              <a:rPr lang="en-US" noProof="0" dirty="0" err="1"/>
              <a:t>a</a:t>
            </a:r>
            <a:r>
              <a:rPr lang="en-US" baseline="-25000" noProof="0" dirty="0" err="1"/>
              <a:t>B</a:t>
            </a:r>
            <a:r>
              <a:rPr lang="en-US" noProof="0" dirty="0" err="1"/>
              <a:t>r</a:t>
            </a:r>
            <a:r>
              <a:rPr lang="en-US" baseline="-25000" noProof="0" dirty="0" err="1"/>
              <a:t>s</a:t>
            </a:r>
            <a:r>
              <a:rPr lang="en-US" noProof="0" dirty="0"/>
              <a:t> , where e is the electron charge, such that for Γ&gt;&gt;1 the plasma will be strongly correlated.</a:t>
            </a:r>
            <a:endParaRPr lang="en-US" baseline="-25000" noProof="0" dirty="0"/>
          </a:p>
        </p:txBody>
      </p:sp>
    </p:spTree>
    <p:extLst>
      <p:ext uri="{BB962C8B-B14F-4D97-AF65-F5344CB8AC3E}">
        <p14:creationId xmlns:p14="http://schemas.microsoft.com/office/powerpoint/2010/main" val="3566497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8631DC-5DF2-FADE-1C87-00BD4EF2270D}"/>
              </a:ext>
            </a:extLst>
          </p:cNvPr>
          <p:cNvSpPr txBox="1"/>
          <p:nvPr/>
        </p:nvSpPr>
        <p:spPr>
          <a:xfrm>
            <a:off x="3639392" y="511629"/>
            <a:ext cx="4020588" cy="523220"/>
          </a:xfrm>
          <a:prstGeom prst="rect">
            <a:avLst/>
          </a:prstGeom>
          <a:noFill/>
        </p:spPr>
        <p:txBody>
          <a:bodyPr wrap="none" rtlCol="0">
            <a:spAutoFit/>
          </a:bodyPr>
          <a:lstStyle/>
          <a:p>
            <a:r>
              <a:rPr lang="en-US" sz="2800" b="1" noProof="0" dirty="0"/>
              <a:t>The geometrical potential</a:t>
            </a:r>
          </a:p>
        </p:txBody>
      </p:sp>
      <p:sp>
        <p:nvSpPr>
          <p:cNvPr id="3" name="TextBox 2">
            <a:extLst>
              <a:ext uri="{FF2B5EF4-FFF2-40B4-BE49-F238E27FC236}">
                <a16:creationId xmlns:a16="http://schemas.microsoft.com/office/drawing/2014/main" id="{50BF11EF-35D6-B82B-1FEB-40B096EA7B72}"/>
              </a:ext>
            </a:extLst>
          </p:cNvPr>
          <p:cNvSpPr txBox="1"/>
          <p:nvPr/>
        </p:nvSpPr>
        <p:spPr>
          <a:xfrm>
            <a:off x="881742" y="1404257"/>
            <a:ext cx="10428515" cy="646331"/>
          </a:xfrm>
          <a:prstGeom prst="rect">
            <a:avLst/>
          </a:prstGeom>
          <a:noFill/>
        </p:spPr>
        <p:txBody>
          <a:bodyPr wrap="square" rtlCol="0">
            <a:spAutoFit/>
          </a:bodyPr>
          <a:lstStyle/>
          <a:p>
            <a:r>
              <a:rPr lang="en-US" noProof="0" dirty="0"/>
              <a:t>We will interpret the Jacobian of the elementary 3N dimensional volume of integration in the path integral as an external </a:t>
            </a:r>
            <a:r>
              <a:rPr lang="en-US" b="1" noProof="0" dirty="0"/>
              <a:t>geometrical potential </a:t>
            </a:r>
          </a:p>
        </p:txBody>
      </p:sp>
      <p:pic>
        <p:nvPicPr>
          <p:cNvPr id="5" name="Picture 4">
            <a:extLst>
              <a:ext uri="{FF2B5EF4-FFF2-40B4-BE49-F238E27FC236}">
                <a16:creationId xmlns:a16="http://schemas.microsoft.com/office/drawing/2014/main" id="{AA032AF4-C0F9-8B96-0F0C-C50B3D97A32C}"/>
              </a:ext>
            </a:extLst>
          </p:cNvPr>
          <p:cNvPicPr>
            <a:picLocks noChangeAspect="1"/>
          </p:cNvPicPr>
          <p:nvPr/>
        </p:nvPicPr>
        <p:blipFill>
          <a:blip r:embed="rId2"/>
          <a:stretch>
            <a:fillRect/>
          </a:stretch>
        </p:blipFill>
        <p:spPr>
          <a:xfrm>
            <a:off x="4614984" y="2419996"/>
            <a:ext cx="2069404" cy="240128"/>
          </a:xfrm>
          <a:prstGeom prst="rect">
            <a:avLst/>
          </a:prstGeom>
        </p:spPr>
      </p:pic>
      <p:pic>
        <p:nvPicPr>
          <p:cNvPr id="7" name="Picture 6">
            <a:extLst>
              <a:ext uri="{FF2B5EF4-FFF2-40B4-BE49-F238E27FC236}">
                <a16:creationId xmlns:a16="http://schemas.microsoft.com/office/drawing/2014/main" id="{5D2DAE25-E130-0086-E752-21295E15E37E}"/>
              </a:ext>
            </a:extLst>
          </p:cNvPr>
          <p:cNvPicPr>
            <a:picLocks noChangeAspect="1"/>
          </p:cNvPicPr>
          <p:nvPr/>
        </p:nvPicPr>
        <p:blipFill>
          <a:blip r:embed="rId3"/>
          <a:stretch>
            <a:fillRect/>
          </a:stretch>
        </p:blipFill>
        <p:spPr>
          <a:xfrm>
            <a:off x="2280990" y="3171656"/>
            <a:ext cx="6933333" cy="1661538"/>
          </a:xfrm>
          <a:prstGeom prst="rect">
            <a:avLst/>
          </a:prstGeom>
        </p:spPr>
      </p:pic>
    </p:spTree>
    <p:extLst>
      <p:ext uri="{BB962C8B-B14F-4D97-AF65-F5344CB8AC3E}">
        <p14:creationId xmlns:p14="http://schemas.microsoft.com/office/powerpoint/2010/main" val="751738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6E53F-8AC4-0929-9148-14946A827364}"/>
              </a:ext>
            </a:extLst>
          </p:cNvPr>
          <p:cNvSpPr txBox="1"/>
          <p:nvPr/>
        </p:nvSpPr>
        <p:spPr>
          <a:xfrm>
            <a:off x="3962399" y="609598"/>
            <a:ext cx="3731471" cy="523220"/>
          </a:xfrm>
          <a:prstGeom prst="rect">
            <a:avLst/>
          </a:prstGeom>
          <a:noFill/>
        </p:spPr>
        <p:txBody>
          <a:bodyPr wrap="none" rtlCol="0">
            <a:spAutoFit/>
          </a:bodyPr>
          <a:lstStyle/>
          <a:p>
            <a:r>
              <a:rPr lang="en-US" sz="2800" b="1" noProof="0" dirty="0"/>
              <a:t>The quantum statistics I</a:t>
            </a:r>
          </a:p>
        </p:txBody>
      </p:sp>
      <p:sp>
        <p:nvSpPr>
          <p:cNvPr id="3" name="TextBox 2">
            <a:extLst>
              <a:ext uri="{FF2B5EF4-FFF2-40B4-BE49-F238E27FC236}">
                <a16:creationId xmlns:a16="http://schemas.microsoft.com/office/drawing/2014/main" id="{F695970D-C00E-414F-18C7-4103E9EB627D}"/>
              </a:ext>
            </a:extLst>
          </p:cNvPr>
          <p:cNvSpPr txBox="1"/>
          <p:nvPr/>
        </p:nvSpPr>
        <p:spPr>
          <a:xfrm>
            <a:off x="1023582" y="1502228"/>
            <a:ext cx="10460848" cy="646331"/>
          </a:xfrm>
          <a:prstGeom prst="rect">
            <a:avLst/>
          </a:prstGeom>
          <a:noFill/>
        </p:spPr>
        <p:txBody>
          <a:bodyPr wrap="square" rtlCol="0">
            <a:spAutoFit/>
          </a:bodyPr>
          <a:lstStyle/>
          <a:p>
            <a:r>
              <a:rPr lang="en-US" noProof="0" dirty="0"/>
              <a:t>We will treat the electrons as polarized spin ½ Fermions. It is then necessary to </a:t>
            </a:r>
            <a:r>
              <a:rPr lang="en-US" noProof="0" dirty="0" err="1"/>
              <a:t>antisymmetrize</a:t>
            </a:r>
            <a:r>
              <a:rPr lang="en-US" noProof="0" dirty="0"/>
              <a:t> the density matrix</a:t>
            </a:r>
          </a:p>
        </p:txBody>
      </p:sp>
      <p:pic>
        <p:nvPicPr>
          <p:cNvPr id="5" name="Picture 4">
            <a:extLst>
              <a:ext uri="{FF2B5EF4-FFF2-40B4-BE49-F238E27FC236}">
                <a16:creationId xmlns:a16="http://schemas.microsoft.com/office/drawing/2014/main" id="{5F83E120-23A9-AEF9-7B05-F16FE45B6E41}"/>
              </a:ext>
            </a:extLst>
          </p:cNvPr>
          <p:cNvPicPr>
            <a:picLocks noChangeAspect="1"/>
          </p:cNvPicPr>
          <p:nvPr/>
        </p:nvPicPr>
        <p:blipFill>
          <a:blip r:embed="rId2"/>
          <a:stretch>
            <a:fillRect/>
          </a:stretch>
        </p:blipFill>
        <p:spPr>
          <a:xfrm>
            <a:off x="3962399" y="2148559"/>
            <a:ext cx="3613347" cy="515924"/>
          </a:xfrm>
          <a:prstGeom prst="rect">
            <a:avLst/>
          </a:prstGeom>
        </p:spPr>
      </p:pic>
      <p:pic>
        <p:nvPicPr>
          <p:cNvPr id="7" name="Picture 6">
            <a:extLst>
              <a:ext uri="{FF2B5EF4-FFF2-40B4-BE49-F238E27FC236}">
                <a16:creationId xmlns:a16="http://schemas.microsoft.com/office/drawing/2014/main" id="{CB78E069-FAEC-7727-B1B9-4446E210EDF6}"/>
              </a:ext>
            </a:extLst>
          </p:cNvPr>
          <p:cNvPicPr>
            <a:picLocks noChangeAspect="1"/>
          </p:cNvPicPr>
          <p:nvPr/>
        </p:nvPicPr>
        <p:blipFill>
          <a:blip r:embed="rId3"/>
          <a:stretch>
            <a:fillRect/>
          </a:stretch>
        </p:blipFill>
        <p:spPr>
          <a:xfrm>
            <a:off x="4385521" y="2664483"/>
            <a:ext cx="2310618" cy="261361"/>
          </a:xfrm>
          <a:prstGeom prst="rect">
            <a:avLst/>
          </a:prstGeom>
        </p:spPr>
      </p:pic>
      <p:pic>
        <p:nvPicPr>
          <p:cNvPr id="11" name="Picture 10">
            <a:extLst>
              <a:ext uri="{FF2B5EF4-FFF2-40B4-BE49-F238E27FC236}">
                <a16:creationId xmlns:a16="http://schemas.microsoft.com/office/drawing/2014/main" id="{7477C4CA-B6BA-8046-DFB8-B70BAA6F8A75}"/>
              </a:ext>
            </a:extLst>
          </p:cNvPr>
          <p:cNvPicPr>
            <a:picLocks noChangeAspect="1"/>
          </p:cNvPicPr>
          <p:nvPr/>
        </p:nvPicPr>
        <p:blipFill>
          <a:blip r:embed="rId4"/>
          <a:stretch>
            <a:fillRect/>
          </a:stretch>
        </p:blipFill>
        <p:spPr>
          <a:xfrm>
            <a:off x="2184905" y="3118551"/>
            <a:ext cx="7108523" cy="923077"/>
          </a:xfrm>
          <a:prstGeom prst="rect">
            <a:avLst/>
          </a:prstGeom>
        </p:spPr>
      </p:pic>
      <p:sp>
        <p:nvSpPr>
          <p:cNvPr id="12" name="TextBox 11">
            <a:extLst>
              <a:ext uri="{FF2B5EF4-FFF2-40B4-BE49-F238E27FC236}">
                <a16:creationId xmlns:a16="http://schemas.microsoft.com/office/drawing/2014/main" id="{448C1BCB-2220-5B5B-EA00-B400C9CDACFC}"/>
              </a:ext>
            </a:extLst>
          </p:cNvPr>
          <p:cNvSpPr txBox="1"/>
          <p:nvPr/>
        </p:nvSpPr>
        <p:spPr>
          <a:xfrm>
            <a:off x="1023582" y="4234335"/>
            <a:ext cx="10221361" cy="1200329"/>
          </a:xfrm>
          <a:prstGeom prst="rect">
            <a:avLst/>
          </a:prstGeom>
          <a:noFill/>
        </p:spPr>
        <p:txBody>
          <a:bodyPr wrap="square" rtlCol="0">
            <a:spAutoFit/>
          </a:bodyPr>
          <a:lstStyle/>
          <a:p>
            <a:pPr algn="just"/>
            <a:r>
              <a:rPr lang="en-US" noProof="0" dirty="0"/>
              <a:t>We may then introduce a de Broglie thermal wavelength                       with λ=1/2m. When the size, Λ, of the many body path R</a:t>
            </a:r>
            <a:r>
              <a:rPr lang="en-US" baseline="-25000" noProof="0" dirty="0"/>
              <a:t>0</a:t>
            </a:r>
            <a:r>
              <a:rPr lang="en-US" noProof="0" dirty="0"/>
              <a:t>, R</a:t>
            </a:r>
            <a:r>
              <a:rPr lang="en-US" baseline="-25000" noProof="0" dirty="0"/>
              <a:t>1</a:t>
            </a:r>
            <a:r>
              <a:rPr lang="en-US" noProof="0" dirty="0"/>
              <a:t>, R</a:t>
            </a:r>
            <a:r>
              <a:rPr lang="en-US" baseline="-25000" noProof="0" dirty="0"/>
              <a:t>2</a:t>
            </a:r>
            <a:r>
              <a:rPr lang="en-US" noProof="0" dirty="0"/>
              <a:t>, …, R</a:t>
            </a:r>
            <a:r>
              <a:rPr lang="en-US" baseline="-25000" noProof="0" dirty="0"/>
              <a:t>M</a:t>
            </a:r>
            <a:r>
              <a:rPr lang="en-US" noProof="0" dirty="0"/>
              <a:t> equals the interparticle spacing, n</a:t>
            </a:r>
            <a:r>
              <a:rPr lang="en-US" baseline="30000" noProof="0" dirty="0"/>
              <a:t>-1/3</a:t>
            </a:r>
            <a:r>
              <a:rPr lang="en-US" noProof="0" dirty="0"/>
              <a:t>, with n the proper particle number density, the permutations will have an effect on the measure of diagonal observables that requires R</a:t>
            </a:r>
            <a:r>
              <a:rPr lang="en-US" baseline="-25000" noProof="0" dirty="0"/>
              <a:t>0</a:t>
            </a:r>
            <a:r>
              <a:rPr lang="en-US" noProof="0" dirty="0"/>
              <a:t>=R</a:t>
            </a:r>
            <a:r>
              <a:rPr lang="en-US" baseline="-25000" noProof="0" dirty="0"/>
              <a:t>M</a:t>
            </a:r>
            <a:r>
              <a:rPr lang="en-US" noProof="0" dirty="0"/>
              <a:t>. This determines a degeneracy temperature</a:t>
            </a:r>
          </a:p>
        </p:txBody>
      </p:sp>
      <p:pic>
        <p:nvPicPr>
          <p:cNvPr id="14" name="Picture 13">
            <a:extLst>
              <a:ext uri="{FF2B5EF4-FFF2-40B4-BE49-F238E27FC236}">
                <a16:creationId xmlns:a16="http://schemas.microsoft.com/office/drawing/2014/main" id="{BA9B0C1C-8C8A-2968-994E-F028EFF9C440}"/>
              </a:ext>
            </a:extLst>
          </p:cNvPr>
          <p:cNvPicPr>
            <a:picLocks noChangeAspect="1"/>
          </p:cNvPicPr>
          <p:nvPr/>
        </p:nvPicPr>
        <p:blipFill>
          <a:blip r:embed="rId5"/>
          <a:stretch>
            <a:fillRect/>
          </a:stretch>
        </p:blipFill>
        <p:spPr>
          <a:xfrm>
            <a:off x="6450902" y="4298937"/>
            <a:ext cx="942109" cy="240128"/>
          </a:xfrm>
          <a:prstGeom prst="rect">
            <a:avLst/>
          </a:prstGeom>
        </p:spPr>
      </p:pic>
      <p:pic>
        <p:nvPicPr>
          <p:cNvPr id="16" name="Picture 15">
            <a:extLst>
              <a:ext uri="{FF2B5EF4-FFF2-40B4-BE49-F238E27FC236}">
                <a16:creationId xmlns:a16="http://schemas.microsoft.com/office/drawing/2014/main" id="{E6B83357-8BBC-FC1D-D0A0-EAEFA2E005D2}"/>
              </a:ext>
            </a:extLst>
          </p:cNvPr>
          <p:cNvPicPr>
            <a:picLocks noChangeAspect="1"/>
          </p:cNvPicPr>
          <p:nvPr/>
        </p:nvPicPr>
        <p:blipFill>
          <a:blip r:embed="rId6"/>
          <a:stretch>
            <a:fillRect/>
          </a:stretch>
        </p:blipFill>
        <p:spPr>
          <a:xfrm>
            <a:off x="5220000" y="5137992"/>
            <a:ext cx="1098143" cy="217780"/>
          </a:xfrm>
          <a:prstGeom prst="rect">
            <a:avLst/>
          </a:prstGeom>
        </p:spPr>
      </p:pic>
      <p:sp>
        <p:nvSpPr>
          <p:cNvPr id="17" name="TextBox 16">
            <a:extLst>
              <a:ext uri="{FF2B5EF4-FFF2-40B4-BE49-F238E27FC236}">
                <a16:creationId xmlns:a16="http://schemas.microsoft.com/office/drawing/2014/main" id="{B7687290-6228-3403-A4F1-0DEB501FA95E}"/>
              </a:ext>
            </a:extLst>
          </p:cNvPr>
          <p:cNvSpPr txBox="1"/>
          <p:nvPr/>
        </p:nvSpPr>
        <p:spPr>
          <a:xfrm>
            <a:off x="1023582" y="5627371"/>
            <a:ext cx="10112829" cy="646331"/>
          </a:xfrm>
          <a:prstGeom prst="rect">
            <a:avLst/>
          </a:prstGeom>
          <a:noFill/>
        </p:spPr>
        <p:txBody>
          <a:bodyPr wrap="square" rtlCol="0">
            <a:spAutoFit/>
          </a:bodyPr>
          <a:lstStyle/>
          <a:p>
            <a:pPr algn="just"/>
            <a:r>
              <a:rPr lang="en-US" noProof="0" dirty="0"/>
              <a:t>We may then introduce an </a:t>
            </a:r>
            <a:r>
              <a:rPr lang="en-US" noProof="0" dirty="0" err="1"/>
              <a:t>adimensional</a:t>
            </a:r>
            <a:r>
              <a:rPr lang="en-US" noProof="0" dirty="0"/>
              <a:t> parameter Θ=T/T</a:t>
            </a:r>
            <a:r>
              <a:rPr lang="en-US" baseline="-25000" noProof="0" dirty="0"/>
              <a:t>D</a:t>
            </a:r>
            <a:r>
              <a:rPr lang="en-US" noProof="0" dirty="0"/>
              <a:t> such that for Θ &lt;&lt; 1quantum statistics will be very important.</a:t>
            </a:r>
          </a:p>
        </p:txBody>
      </p:sp>
    </p:spTree>
    <p:extLst>
      <p:ext uri="{BB962C8B-B14F-4D97-AF65-F5344CB8AC3E}">
        <p14:creationId xmlns:p14="http://schemas.microsoft.com/office/powerpoint/2010/main" val="2659972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0C698E-763F-6376-FB5B-85ADCD92B448}"/>
              </a:ext>
            </a:extLst>
          </p:cNvPr>
          <p:cNvSpPr txBox="1"/>
          <p:nvPr/>
        </p:nvSpPr>
        <p:spPr>
          <a:xfrm>
            <a:off x="936171" y="1763486"/>
            <a:ext cx="10243458" cy="3139321"/>
          </a:xfrm>
          <a:prstGeom prst="rect">
            <a:avLst/>
          </a:prstGeom>
          <a:noFill/>
        </p:spPr>
        <p:txBody>
          <a:bodyPr wrap="square" rtlCol="0">
            <a:spAutoFit/>
          </a:bodyPr>
          <a:lstStyle/>
          <a:p>
            <a:pPr algn="just"/>
            <a:r>
              <a:rPr lang="en-US" dirty="0"/>
              <a:t>Fermions properties cannot be calculated exactly with path integral Monte Carlo because of the Feynmann </a:t>
            </a:r>
            <a:r>
              <a:rPr lang="en-US" b="1" dirty="0"/>
              <a:t>fermions sign problem </a:t>
            </a:r>
          </a:p>
          <a:p>
            <a:pPr algn="just"/>
            <a:endParaRPr lang="en-US" b="1" dirty="0"/>
          </a:p>
          <a:p>
            <a:pPr algn="just"/>
            <a:r>
              <a:rPr lang="en-US" b="1" dirty="0"/>
              <a:t>[</a:t>
            </a:r>
            <a:r>
              <a:rPr lang="fr-FR" dirty="0"/>
              <a:t>D. M. </a:t>
            </a:r>
            <a:r>
              <a:rPr lang="fr-FR" dirty="0" err="1"/>
              <a:t>Ceperley</a:t>
            </a:r>
            <a:r>
              <a:rPr lang="fr-FR" dirty="0"/>
              <a:t>, Fermion Nodes, J. Stat. Phys. </a:t>
            </a:r>
            <a:r>
              <a:rPr lang="fr-FR" b="1" dirty="0"/>
              <a:t>63</a:t>
            </a:r>
            <a:r>
              <a:rPr lang="fr-FR" dirty="0"/>
              <a:t>, 1237 (1991).</a:t>
            </a:r>
            <a:r>
              <a:rPr lang="en-US" b="1" dirty="0"/>
              <a:t>]</a:t>
            </a:r>
          </a:p>
          <a:p>
            <a:pPr algn="just"/>
            <a:endParaRPr lang="en-US" b="1" dirty="0"/>
          </a:p>
          <a:p>
            <a:pPr algn="just"/>
            <a:r>
              <a:rPr lang="en-US" b="1" dirty="0"/>
              <a:t>[</a:t>
            </a:r>
            <a:r>
              <a:rPr lang="en-US" dirty="0"/>
              <a:t>D. M. </a:t>
            </a:r>
            <a:r>
              <a:rPr lang="en-US" dirty="0" err="1"/>
              <a:t>Ceperley</a:t>
            </a:r>
            <a:r>
              <a:rPr lang="en-US" dirty="0"/>
              <a:t>, Path integral Monte Carlo methods for fermions, in Monte Carlo and Molecular Dynamics of Condensed Matter Systems, edited by K. Binder and G. Ciccotti (</a:t>
            </a:r>
            <a:r>
              <a:rPr lang="en-US" dirty="0" err="1"/>
              <a:t>Editrice</a:t>
            </a:r>
            <a:r>
              <a:rPr lang="en-US" dirty="0"/>
              <a:t> </a:t>
            </a:r>
            <a:r>
              <a:rPr lang="en-US" dirty="0" err="1"/>
              <a:t>Compositori</a:t>
            </a:r>
            <a:r>
              <a:rPr lang="en-US" dirty="0"/>
              <a:t>, Bologna, Italy, 1996).</a:t>
            </a:r>
            <a:r>
              <a:rPr lang="en-US" b="1" dirty="0"/>
              <a:t>]</a:t>
            </a:r>
          </a:p>
          <a:p>
            <a:pPr algn="just"/>
            <a:endParaRPr lang="en-US" b="1" dirty="0"/>
          </a:p>
          <a:p>
            <a:pPr algn="just"/>
            <a:r>
              <a:rPr lang="en-US" dirty="0"/>
              <a:t>We then have to resort to an </a:t>
            </a:r>
            <a:r>
              <a:rPr lang="en-US" b="1" dirty="0"/>
              <a:t>approximate</a:t>
            </a:r>
            <a:r>
              <a:rPr lang="en-US" dirty="0"/>
              <a:t> calculation. The one we chose was the Restricted Path Integral (</a:t>
            </a:r>
            <a:r>
              <a:rPr lang="en-US" u="sng" dirty="0"/>
              <a:t>RPIMC</a:t>
            </a:r>
            <a:r>
              <a:rPr lang="en-US" dirty="0"/>
              <a:t>) approximation with a ``free fermions restriction''.</a:t>
            </a:r>
          </a:p>
        </p:txBody>
      </p:sp>
      <p:sp>
        <p:nvSpPr>
          <p:cNvPr id="4" name="TextBox 3">
            <a:extLst>
              <a:ext uri="{FF2B5EF4-FFF2-40B4-BE49-F238E27FC236}">
                <a16:creationId xmlns:a16="http://schemas.microsoft.com/office/drawing/2014/main" id="{E7A0D1C9-1534-2B60-4164-89C3A2DC3173}"/>
              </a:ext>
            </a:extLst>
          </p:cNvPr>
          <p:cNvSpPr txBox="1"/>
          <p:nvPr/>
        </p:nvSpPr>
        <p:spPr>
          <a:xfrm>
            <a:off x="3962399" y="609598"/>
            <a:ext cx="3827651" cy="523220"/>
          </a:xfrm>
          <a:prstGeom prst="rect">
            <a:avLst/>
          </a:prstGeom>
          <a:noFill/>
        </p:spPr>
        <p:txBody>
          <a:bodyPr wrap="none" rtlCol="0">
            <a:spAutoFit/>
          </a:bodyPr>
          <a:lstStyle/>
          <a:p>
            <a:r>
              <a:rPr lang="en-US" sz="2800" b="1" noProof="0" dirty="0"/>
              <a:t>The quantum statistics II</a:t>
            </a:r>
          </a:p>
        </p:txBody>
      </p:sp>
    </p:spTree>
    <p:extLst>
      <p:ext uri="{BB962C8B-B14F-4D97-AF65-F5344CB8AC3E}">
        <p14:creationId xmlns:p14="http://schemas.microsoft.com/office/powerpoint/2010/main" val="2200578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539FD3-D1AC-572E-ADAA-165495A020ED}"/>
              </a:ext>
            </a:extLst>
          </p:cNvPr>
          <p:cNvSpPr txBox="1"/>
          <p:nvPr/>
        </p:nvSpPr>
        <p:spPr>
          <a:xfrm>
            <a:off x="5271928" y="489857"/>
            <a:ext cx="1648143" cy="523220"/>
          </a:xfrm>
          <a:prstGeom prst="rect">
            <a:avLst/>
          </a:prstGeom>
          <a:noFill/>
        </p:spPr>
        <p:txBody>
          <a:bodyPr wrap="none" rtlCol="0">
            <a:spAutoFit/>
          </a:bodyPr>
          <a:lstStyle/>
          <a:p>
            <a:r>
              <a:rPr lang="it-IT" sz="2800" b="1" dirty="0"/>
              <a:t>The patch</a:t>
            </a:r>
            <a:endParaRPr lang="en-US" sz="2800" b="1" dirty="0"/>
          </a:p>
        </p:txBody>
      </p:sp>
      <p:pic>
        <p:nvPicPr>
          <p:cNvPr id="8" name="Picture 7">
            <a:extLst>
              <a:ext uri="{FF2B5EF4-FFF2-40B4-BE49-F238E27FC236}">
                <a16:creationId xmlns:a16="http://schemas.microsoft.com/office/drawing/2014/main" id="{9613C1E0-9C79-A436-3FE1-CE4E53ECF4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775" y="751467"/>
            <a:ext cx="2920179" cy="5159829"/>
          </a:xfrm>
          <a:prstGeom prst="rect">
            <a:avLst/>
          </a:prstGeom>
        </p:spPr>
      </p:pic>
      <p:sp>
        <p:nvSpPr>
          <p:cNvPr id="9" name="TextBox 8">
            <a:extLst>
              <a:ext uri="{FF2B5EF4-FFF2-40B4-BE49-F238E27FC236}">
                <a16:creationId xmlns:a16="http://schemas.microsoft.com/office/drawing/2014/main" id="{C99F44EC-FC7B-DF67-BC55-483A574613B4}"/>
              </a:ext>
            </a:extLst>
          </p:cNvPr>
          <p:cNvSpPr txBox="1"/>
          <p:nvPr/>
        </p:nvSpPr>
        <p:spPr>
          <a:xfrm>
            <a:off x="5271928" y="1013077"/>
            <a:ext cx="6310472" cy="5447645"/>
          </a:xfrm>
          <a:prstGeom prst="rect">
            <a:avLst/>
          </a:prstGeom>
          <a:noFill/>
        </p:spPr>
        <p:txBody>
          <a:bodyPr wrap="square" rtlCol="0">
            <a:spAutoFit/>
          </a:bodyPr>
          <a:lstStyle/>
          <a:p>
            <a:pPr algn="just"/>
            <a:r>
              <a:rPr lang="it-IT" dirty="0"/>
              <a:t>In the </a:t>
            </a:r>
            <a:r>
              <a:rPr lang="it-IT" dirty="0" err="1"/>
              <a:t>simulation</a:t>
            </a:r>
            <a:r>
              <a:rPr lang="it-IT" dirty="0"/>
              <a:t> </a:t>
            </a:r>
            <a:r>
              <a:rPr lang="it-IT" dirty="0" err="1"/>
              <a:t>we</a:t>
            </a:r>
            <a:r>
              <a:rPr lang="it-IT" dirty="0"/>
              <a:t> use</a:t>
            </a:r>
          </a:p>
          <a:p>
            <a:pPr algn="just"/>
            <a:endParaRPr lang="it-IT" dirty="0"/>
          </a:p>
          <a:p>
            <a:pPr algn="just"/>
            <a:r>
              <a:rPr lang="en-US" dirty="0"/>
              <a:t>R ≈ 7 x 10</a:t>
            </a:r>
            <a:r>
              <a:rPr lang="en-US" baseline="30000" dirty="0"/>
              <a:t>7</a:t>
            </a:r>
            <a:r>
              <a:rPr lang="en-US" dirty="0"/>
              <a:t> cm ≈ R</a:t>
            </a:r>
            <a:r>
              <a:rPr lang="en-US" baseline="-25000" dirty="0"/>
              <a:t>☉</a:t>
            </a:r>
            <a:r>
              <a:rPr lang="en-US" dirty="0"/>
              <a:t>/1000</a:t>
            </a:r>
          </a:p>
          <a:p>
            <a:pPr algn="just"/>
            <a:r>
              <a:rPr lang="en-US" dirty="0"/>
              <a:t>D ≈ R/100</a:t>
            </a:r>
          </a:p>
          <a:p>
            <a:pPr algn="just"/>
            <a:r>
              <a:rPr lang="el-GR" dirty="0"/>
              <a:t>δ</a:t>
            </a:r>
            <a:r>
              <a:rPr lang="it-IT" dirty="0"/>
              <a:t> ≈ Å/20</a:t>
            </a:r>
          </a:p>
          <a:p>
            <a:pPr algn="just"/>
            <a:r>
              <a:rPr lang="it-IT" dirty="0"/>
              <a:t>θ</a:t>
            </a:r>
            <a:r>
              <a:rPr lang="it-IT" baseline="-25000" dirty="0"/>
              <a:t>0</a:t>
            </a:r>
            <a:r>
              <a:rPr lang="it-IT" dirty="0"/>
              <a:t> ≈ </a:t>
            </a:r>
            <a:r>
              <a:rPr lang="el-GR" dirty="0"/>
              <a:t>φ</a:t>
            </a:r>
            <a:r>
              <a:rPr lang="it-IT" baseline="-25000" dirty="0"/>
              <a:t>0</a:t>
            </a:r>
            <a:r>
              <a:rPr lang="it-IT" dirty="0"/>
              <a:t> ≈ 10</a:t>
            </a:r>
            <a:r>
              <a:rPr lang="it-IT" baseline="30000" dirty="0"/>
              <a:t>-17</a:t>
            </a:r>
            <a:r>
              <a:rPr lang="it-IT" dirty="0"/>
              <a:t> rad</a:t>
            </a:r>
          </a:p>
          <a:p>
            <a:pPr algn="just"/>
            <a:endParaRPr lang="it-IT" baseline="30000" dirty="0"/>
          </a:p>
          <a:p>
            <a:pPr algn="just"/>
            <a:endParaRPr lang="it-IT" baseline="30000" dirty="0"/>
          </a:p>
          <a:p>
            <a:pPr algn="just"/>
            <a:r>
              <a:rPr lang="it-IT" dirty="0" err="1"/>
              <a:t>We</a:t>
            </a:r>
            <a:r>
              <a:rPr lang="it-IT" dirty="0"/>
              <a:t> use </a:t>
            </a:r>
            <a:r>
              <a:rPr lang="it-IT" dirty="0" err="1"/>
              <a:t>periodic</a:t>
            </a:r>
            <a:r>
              <a:rPr lang="it-IT" dirty="0"/>
              <a:t> </a:t>
            </a:r>
            <a:r>
              <a:rPr lang="it-IT" dirty="0" err="1"/>
              <a:t>boundary</a:t>
            </a:r>
            <a:r>
              <a:rPr lang="it-IT" dirty="0"/>
              <a:t> </a:t>
            </a:r>
            <a:r>
              <a:rPr lang="it-IT" dirty="0" err="1"/>
              <a:t>conditions</a:t>
            </a:r>
            <a:r>
              <a:rPr lang="it-IT" dirty="0"/>
              <a:t> on </a:t>
            </a:r>
            <a:r>
              <a:rPr lang="el-GR" dirty="0"/>
              <a:t>θ</a:t>
            </a:r>
            <a:r>
              <a:rPr lang="it-IT" dirty="0"/>
              <a:t>∈[- θ</a:t>
            </a:r>
            <a:r>
              <a:rPr lang="it-IT" baseline="-25000" dirty="0"/>
              <a:t>0</a:t>
            </a:r>
            <a:r>
              <a:rPr lang="it-IT" dirty="0"/>
              <a:t>/2, θ</a:t>
            </a:r>
            <a:r>
              <a:rPr lang="it-IT" baseline="-25000" dirty="0"/>
              <a:t>0</a:t>
            </a:r>
            <a:r>
              <a:rPr lang="it-IT" dirty="0"/>
              <a:t>/2]  and </a:t>
            </a:r>
            <a:r>
              <a:rPr lang="el-GR" dirty="0"/>
              <a:t>φ</a:t>
            </a:r>
            <a:r>
              <a:rPr lang="it-IT" dirty="0"/>
              <a:t>∈[-</a:t>
            </a:r>
            <a:r>
              <a:rPr lang="el-GR" dirty="0"/>
              <a:t> φ</a:t>
            </a:r>
            <a:r>
              <a:rPr lang="it-IT" baseline="-25000" dirty="0"/>
              <a:t>0</a:t>
            </a:r>
            <a:r>
              <a:rPr lang="it-IT" dirty="0"/>
              <a:t>/2,</a:t>
            </a:r>
            <a:r>
              <a:rPr lang="el-GR" dirty="0"/>
              <a:t> φ</a:t>
            </a:r>
            <a:r>
              <a:rPr lang="it-IT" baseline="-25000" dirty="0"/>
              <a:t>0</a:t>
            </a:r>
            <a:r>
              <a:rPr lang="it-IT" dirty="0"/>
              <a:t>/2] of </a:t>
            </a:r>
            <a:r>
              <a:rPr lang="it-IT" dirty="0" err="1"/>
              <a:t>periodicities</a:t>
            </a:r>
            <a:r>
              <a:rPr lang="it-IT" dirty="0"/>
              <a:t> θ</a:t>
            </a:r>
            <a:r>
              <a:rPr lang="it-IT" baseline="-25000" dirty="0"/>
              <a:t>0</a:t>
            </a:r>
            <a:r>
              <a:rPr lang="it-IT" dirty="0"/>
              <a:t> and </a:t>
            </a:r>
            <a:r>
              <a:rPr lang="el-GR" dirty="0"/>
              <a:t>φ</a:t>
            </a:r>
            <a:r>
              <a:rPr lang="it-IT" baseline="-25000" dirty="0"/>
              <a:t>0 </a:t>
            </a:r>
            <a:r>
              <a:rPr lang="it-IT" dirty="0"/>
              <a:t>and </a:t>
            </a:r>
            <a:r>
              <a:rPr lang="it-IT" dirty="0" err="1"/>
              <a:t>wall</a:t>
            </a:r>
            <a:r>
              <a:rPr lang="it-IT" dirty="0"/>
              <a:t> </a:t>
            </a:r>
            <a:r>
              <a:rPr lang="it-IT" dirty="0" err="1"/>
              <a:t>boundary</a:t>
            </a:r>
            <a:r>
              <a:rPr lang="it-IT" dirty="0"/>
              <a:t> </a:t>
            </a:r>
            <a:r>
              <a:rPr lang="it-IT" dirty="0" err="1"/>
              <a:t>conditions</a:t>
            </a:r>
            <a:r>
              <a:rPr lang="it-IT" dirty="0"/>
              <a:t> on r=R and r=R-</a:t>
            </a:r>
            <a:r>
              <a:rPr lang="el-GR" dirty="0"/>
              <a:t>δ</a:t>
            </a:r>
            <a:r>
              <a:rPr lang="it-IT" dirty="0"/>
              <a:t>.</a:t>
            </a:r>
          </a:p>
          <a:p>
            <a:pPr algn="just"/>
            <a:endParaRPr lang="it-IT" dirty="0"/>
          </a:p>
          <a:p>
            <a:pPr algn="just"/>
            <a:r>
              <a:rPr lang="it-IT" dirty="0" err="1"/>
              <a:t>We</a:t>
            </a:r>
            <a:r>
              <a:rPr lang="it-IT" dirty="0"/>
              <a:t> </a:t>
            </a:r>
            <a:r>
              <a:rPr lang="it-IT" dirty="0" err="1"/>
              <a:t>always</a:t>
            </a:r>
            <a:r>
              <a:rPr lang="it-IT" dirty="0"/>
              <a:t> use N=30 </a:t>
            </a:r>
            <a:r>
              <a:rPr lang="it-IT" dirty="0" err="1"/>
              <a:t>electrons</a:t>
            </a:r>
            <a:r>
              <a:rPr lang="it-IT" dirty="0"/>
              <a:t> </a:t>
            </a:r>
            <a:r>
              <a:rPr lang="it-IT" dirty="0" err="1"/>
              <a:t>within</a:t>
            </a:r>
            <a:r>
              <a:rPr lang="it-IT" dirty="0"/>
              <a:t> the patch </a:t>
            </a:r>
            <a:r>
              <a:rPr lang="it-IT" dirty="0" err="1"/>
              <a:t>which</a:t>
            </a:r>
            <a:r>
              <a:rPr lang="it-IT" dirty="0"/>
              <a:t> </a:t>
            </a:r>
            <a:r>
              <a:rPr lang="it-IT" dirty="0" err="1"/>
              <a:t>correspond</a:t>
            </a:r>
            <a:r>
              <a:rPr lang="it-IT" dirty="0"/>
              <a:t> to an electron </a:t>
            </a:r>
            <a:r>
              <a:rPr lang="it-IT" dirty="0" err="1"/>
              <a:t>number</a:t>
            </a:r>
            <a:r>
              <a:rPr lang="it-IT" dirty="0"/>
              <a:t> </a:t>
            </a:r>
            <a:r>
              <a:rPr lang="it-IT" dirty="0" err="1"/>
              <a:t>density</a:t>
            </a:r>
            <a:r>
              <a:rPr lang="it-IT" dirty="0"/>
              <a:t> in Planck </a:t>
            </a:r>
            <a:r>
              <a:rPr lang="it-IT" dirty="0" err="1"/>
              <a:t>units</a:t>
            </a:r>
            <a:r>
              <a:rPr lang="it-IT" dirty="0"/>
              <a:t> </a:t>
            </a:r>
            <a:r>
              <a:rPr lang="it-IT" dirty="0" err="1"/>
              <a:t>equal</a:t>
            </a:r>
            <a:r>
              <a:rPr lang="it-IT" dirty="0"/>
              <a:t> to</a:t>
            </a:r>
          </a:p>
          <a:p>
            <a:pPr algn="just"/>
            <a:endParaRPr lang="it-IT" dirty="0"/>
          </a:p>
          <a:p>
            <a:pPr algn="just"/>
            <a:r>
              <a:rPr lang="it-IT" dirty="0"/>
              <a:t>n ≈ 3 x 10</a:t>
            </a:r>
            <a:r>
              <a:rPr lang="it-IT" baseline="30000" dirty="0"/>
              <a:t>72</a:t>
            </a:r>
          </a:p>
          <a:p>
            <a:pPr algn="just"/>
            <a:endParaRPr lang="it-IT" dirty="0"/>
          </a:p>
          <a:p>
            <a:pPr algn="just"/>
            <a:r>
              <a:rPr lang="it-IT" dirty="0" err="1"/>
              <a:t>Corresponding</a:t>
            </a:r>
            <a:r>
              <a:rPr lang="it-IT" dirty="0"/>
              <a:t> to </a:t>
            </a:r>
          </a:p>
          <a:p>
            <a:pPr algn="just"/>
            <a:endParaRPr lang="it-IT" dirty="0"/>
          </a:p>
          <a:p>
            <a:pPr algn="just"/>
            <a:r>
              <a:rPr lang="it-IT" dirty="0" err="1"/>
              <a:t>r</a:t>
            </a:r>
            <a:r>
              <a:rPr lang="it-IT" baseline="-25000" dirty="0" err="1"/>
              <a:t>s</a:t>
            </a:r>
            <a:r>
              <a:rPr lang="it-IT" dirty="0"/>
              <a:t> ≈ 0.06</a:t>
            </a:r>
          </a:p>
        </p:txBody>
      </p:sp>
    </p:spTree>
    <p:extLst>
      <p:ext uri="{BB962C8B-B14F-4D97-AF65-F5344CB8AC3E}">
        <p14:creationId xmlns:p14="http://schemas.microsoft.com/office/powerpoint/2010/main" val="446203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1FE55A-9DA5-91DF-A7EA-975C1859B72D}"/>
              </a:ext>
            </a:extLst>
          </p:cNvPr>
          <p:cNvSpPr txBox="1"/>
          <p:nvPr/>
        </p:nvSpPr>
        <p:spPr>
          <a:xfrm>
            <a:off x="4419868" y="598714"/>
            <a:ext cx="3352264" cy="523220"/>
          </a:xfrm>
          <a:prstGeom prst="rect">
            <a:avLst/>
          </a:prstGeom>
          <a:noFill/>
        </p:spPr>
        <p:txBody>
          <a:bodyPr wrap="none" rtlCol="0">
            <a:spAutoFit/>
          </a:bodyPr>
          <a:lstStyle/>
          <a:p>
            <a:r>
              <a:rPr lang="it-IT" sz="2800" b="1" dirty="0"/>
              <a:t>The </a:t>
            </a:r>
            <a:r>
              <a:rPr lang="it-IT" sz="2800" b="1" dirty="0" err="1"/>
              <a:t>charge</a:t>
            </a:r>
            <a:r>
              <a:rPr lang="it-IT" sz="2800" b="1" dirty="0"/>
              <a:t> </a:t>
            </a:r>
            <a:r>
              <a:rPr lang="it-IT" sz="2800" b="1" dirty="0" err="1"/>
              <a:t>neutrality</a:t>
            </a:r>
            <a:endParaRPr lang="en-US" sz="2800" b="1" dirty="0"/>
          </a:p>
        </p:txBody>
      </p:sp>
      <p:sp>
        <p:nvSpPr>
          <p:cNvPr id="3" name="TextBox 2">
            <a:extLst>
              <a:ext uri="{FF2B5EF4-FFF2-40B4-BE49-F238E27FC236}">
                <a16:creationId xmlns:a16="http://schemas.microsoft.com/office/drawing/2014/main" id="{E1B1D24D-763D-AF64-1123-C42BEF590B19}"/>
              </a:ext>
            </a:extLst>
          </p:cNvPr>
          <p:cNvSpPr txBox="1"/>
          <p:nvPr/>
        </p:nvSpPr>
        <p:spPr>
          <a:xfrm>
            <a:off x="870857" y="1404257"/>
            <a:ext cx="10548257" cy="923330"/>
          </a:xfrm>
          <a:prstGeom prst="rect">
            <a:avLst/>
          </a:prstGeom>
          <a:noFill/>
        </p:spPr>
        <p:txBody>
          <a:bodyPr wrap="square" rtlCol="0">
            <a:spAutoFit/>
          </a:bodyPr>
          <a:lstStyle/>
          <a:p>
            <a:pPr algn="just"/>
            <a:r>
              <a:rPr lang="it-IT" dirty="0"/>
              <a:t>In </a:t>
            </a:r>
            <a:r>
              <a:rPr lang="it-IT" dirty="0" err="1"/>
              <a:t>order</a:t>
            </a:r>
            <a:r>
              <a:rPr lang="it-IT" dirty="0"/>
              <a:t> to take </a:t>
            </a:r>
            <a:r>
              <a:rPr lang="it-IT" dirty="0" err="1"/>
              <a:t>into</a:t>
            </a:r>
            <a:r>
              <a:rPr lang="it-IT" dirty="0"/>
              <a:t> account the positive </a:t>
            </a:r>
            <a:r>
              <a:rPr lang="it-IT" dirty="0" err="1"/>
              <a:t>ions</a:t>
            </a:r>
            <a:r>
              <a:rPr lang="it-IT" dirty="0"/>
              <a:t> component </a:t>
            </a:r>
            <a:r>
              <a:rPr lang="it-IT" dirty="0" err="1"/>
              <a:t>it</a:t>
            </a:r>
            <a:r>
              <a:rPr lang="it-IT" dirty="0"/>
              <a:t> </a:t>
            </a:r>
            <a:r>
              <a:rPr lang="it-IT" dirty="0" err="1"/>
              <a:t>is</a:t>
            </a:r>
            <a:r>
              <a:rPr lang="it-IT" dirty="0"/>
              <a:t> </a:t>
            </a:r>
            <a:r>
              <a:rPr lang="it-IT" dirty="0" err="1"/>
              <a:t>necessary</a:t>
            </a:r>
            <a:r>
              <a:rPr lang="it-IT" dirty="0"/>
              <a:t> to make the patch </a:t>
            </a:r>
            <a:r>
              <a:rPr lang="it-IT" dirty="0" err="1"/>
              <a:t>neutrally</a:t>
            </a:r>
            <a:r>
              <a:rPr lang="it-IT" dirty="0"/>
              <a:t> </a:t>
            </a:r>
            <a:r>
              <a:rPr lang="it-IT" dirty="0" err="1"/>
              <a:t>charged</a:t>
            </a:r>
            <a:r>
              <a:rPr lang="it-IT" dirty="0"/>
              <a:t>. The </a:t>
            </a:r>
            <a:r>
              <a:rPr lang="it-IT" dirty="0" err="1"/>
              <a:t>simplest</a:t>
            </a:r>
            <a:r>
              <a:rPr lang="it-IT" dirty="0"/>
              <a:t> way to </a:t>
            </a:r>
            <a:r>
              <a:rPr lang="it-IT" dirty="0" err="1"/>
              <a:t>achieve</a:t>
            </a:r>
            <a:r>
              <a:rPr lang="it-IT" dirty="0"/>
              <a:t> </a:t>
            </a:r>
            <a:r>
              <a:rPr lang="it-IT" dirty="0" err="1"/>
              <a:t>this</a:t>
            </a:r>
            <a:r>
              <a:rPr lang="it-IT" dirty="0"/>
              <a:t> </a:t>
            </a:r>
            <a:r>
              <a:rPr lang="it-IT" dirty="0" err="1"/>
              <a:t>is</a:t>
            </a:r>
            <a:r>
              <a:rPr lang="it-IT" dirty="0"/>
              <a:t> to </a:t>
            </a:r>
            <a:r>
              <a:rPr lang="it-IT" dirty="0" err="1"/>
              <a:t>imagine</a:t>
            </a:r>
            <a:r>
              <a:rPr lang="it-IT" dirty="0"/>
              <a:t> the </a:t>
            </a:r>
            <a:r>
              <a:rPr lang="it-IT" dirty="0" err="1"/>
              <a:t>electrons</a:t>
            </a:r>
            <a:r>
              <a:rPr lang="it-IT" dirty="0"/>
              <a:t> </a:t>
            </a:r>
            <a:r>
              <a:rPr lang="it-IT" dirty="0" err="1"/>
              <a:t>as</a:t>
            </a:r>
            <a:r>
              <a:rPr lang="it-IT" dirty="0"/>
              <a:t> </a:t>
            </a:r>
            <a:r>
              <a:rPr lang="it-IT" dirty="0" err="1"/>
              <a:t>immersed</a:t>
            </a:r>
            <a:r>
              <a:rPr lang="it-IT" dirty="0"/>
              <a:t> in a </a:t>
            </a:r>
            <a:r>
              <a:rPr lang="it-IT" dirty="0" err="1"/>
              <a:t>uniform</a:t>
            </a:r>
            <a:r>
              <a:rPr lang="it-IT" dirty="0"/>
              <a:t> </a:t>
            </a:r>
            <a:r>
              <a:rPr lang="it-IT" dirty="0" err="1"/>
              <a:t>neutralizing</a:t>
            </a:r>
            <a:r>
              <a:rPr lang="it-IT" dirty="0"/>
              <a:t> background of </a:t>
            </a:r>
            <a:r>
              <a:rPr lang="it-IT" dirty="0" err="1"/>
              <a:t>charge</a:t>
            </a:r>
            <a:r>
              <a:rPr lang="it-IT" dirty="0"/>
              <a:t> </a:t>
            </a:r>
            <a:r>
              <a:rPr lang="it-IT" dirty="0" err="1"/>
              <a:t>density</a:t>
            </a:r>
            <a:r>
              <a:rPr lang="it-IT" dirty="0"/>
              <a:t>  </a:t>
            </a:r>
            <a:r>
              <a:rPr lang="el-GR" dirty="0"/>
              <a:t>ρ</a:t>
            </a:r>
            <a:r>
              <a:rPr lang="it-IT" baseline="-25000" dirty="0"/>
              <a:t>b </a:t>
            </a:r>
            <a:r>
              <a:rPr lang="it-IT" dirty="0"/>
              <a:t>= -en. Then </a:t>
            </a:r>
            <a:r>
              <a:rPr lang="it-IT" dirty="0" err="1"/>
              <a:t>it</a:t>
            </a:r>
            <a:r>
              <a:rPr lang="it-IT" dirty="0"/>
              <a:t> </a:t>
            </a:r>
            <a:r>
              <a:rPr lang="it-IT" dirty="0" err="1"/>
              <a:t>is</a:t>
            </a:r>
            <a:r>
              <a:rPr lang="it-IT" dirty="0"/>
              <a:t> </a:t>
            </a:r>
            <a:r>
              <a:rPr lang="it-IT" dirty="0" err="1"/>
              <a:t>necessary</a:t>
            </a:r>
            <a:r>
              <a:rPr lang="it-IT" dirty="0"/>
              <a:t> to </a:t>
            </a:r>
            <a:r>
              <a:rPr lang="it-IT" dirty="0" err="1"/>
              <a:t>add</a:t>
            </a:r>
            <a:r>
              <a:rPr lang="it-IT" dirty="0"/>
              <a:t> to the </a:t>
            </a:r>
            <a:r>
              <a:rPr lang="it-IT" dirty="0" err="1"/>
              <a:t>pair</a:t>
            </a:r>
            <a:r>
              <a:rPr lang="it-IT" dirty="0"/>
              <a:t> </a:t>
            </a:r>
            <a:r>
              <a:rPr lang="it-IT" dirty="0" err="1"/>
              <a:t>Cpson</a:t>
            </a:r>
            <a:r>
              <a:rPr lang="it-IT" dirty="0"/>
              <a:t> </a:t>
            </a:r>
            <a:r>
              <a:rPr lang="it-IT" dirty="0" err="1"/>
              <a:t>potential</a:t>
            </a:r>
            <a:r>
              <a:rPr lang="it-IT" dirty="0"/>
              <a:t> the </a:t>
            </a:r>
            <a:r>
              <a:rPr lang="it-IT" dirty="0" err="1"/>
              <a:t>external</a:t>
            </a:r>
            <a:r>
              <a:rPr lang="it-IT" dirty="0"/>
              <a:t> </a:t>
            </a:r>
            <a:r>
              <a:rPr lang="it-IT" dirty="0" err="1"/>
              <a:t>potential</a:t>
            </a:r>
            <a:endParaRPr lang="en-US" baseline="-25000" dirty="0"/>
          </a:p>
        </p:txBody>
      </p:sp>
      <p:pic>
        <p:nvPicPr>
          <p:cNvPr id="7" name="Picture 6">
            <a:extLst>
              <a:ext uri="{FF2B5EF4-FFF2-40B4-BE49-F238E27FC236}">
                <a16:creationId xmlns:a16="http://schemas.microsoft.com/office/drawing/2014/main" id="{7073F05E-85FE-AEF5-B7CD-DC6194BFAD73}"/>
              </a:ext>
            </a:extLst>
          </p:cNvPr>
          <p:cNvPicPr>
            <a:picLocks noChangeAspect="1"/>
          </p:cNvPicPr>
          <p:nvPr/>
        </p:nvPicPr>
        <p:blipFill>
          <a:blip r:embed="rId2"/>
          <a:stretch>
            <a:fillRect/>
          </a:stretch>
        </p:blipFill>
        <p:spPr>
          <a:xfrm>
            <a:off x="3406442" y="2609910"/>
            <a:ext cx="6241398" cy="2090692"/>
          </a:xfrm>
          <a:prstGeom prst="rect">
            <a:avLst/>
          </a:prstGeom>
        </p:spPr>
      </p:pic>
      <p:sp>
        <p:nvSpPr>
          <p:cNvPr id="8" name="TextBox 7">
            <a:extLst>
              <a:ext uri="{FF2B5EF4-FFF2-40B4-BE49-F238E27FC236}">
                <a16:creationId xmlns:a16="http://schemas.microsoft.com/office/drawing/2014/main" id="{B0555837-5CCF-3B81-5374-B197E4D3DE59}"/>
              </a:ext>
            </a:extLst>
          </p:cNvPr>
          <p:cNvSpPr txBox="1"/>
          <p:nvPr/>
        </p:nvSpPr>
        <p:spPr>
          <a:xfrm>
            <a:off x="870857" y="5159829"/>
            <a:ext cx="10548256" cy="646331"/>
          </a:xfrm>
          <a:prstGeom prst="rect">
            <a:avLst/>
          </a:prstGeom>
          <a:noFill/>
        </p:spPr>
        <p:txBody>
          <a:bodyPr wrap="square" rtlCol="0">
            <a:spAutoFit/>
          </a:bodyPr>
          <a:lstStyle/>
          <a:p>
            <a:r>
              <a:rPr lang="it-IT" dirty="0" err="1"/>
              <a:t>Where</a:t>
            </a:r>
            <a:r>
              <a:rPr lang="it-IT" dirty="0"/>
              <a:t> the </a:t>
            </a:r>
            <a:r>
              <a:rPr lang="it-IT" dirty="0" err="1"/>
              <a:t>surface</a:t>
            </a:r>
            <a:r>
              <a:rPr lang="it-IT" dirty="0"/>
              <a:t> r=R</a:t>
            </a:r>
            <a:r>
              <a:rPr lang="it-IT" baseline="-25000" dirty="0"/>
              <a:t>in</a:t>
            </a:r>
            <a:r>
              <a:rPr lang="it-IT" dirty="0"/>
              <a:t>=</a:t>
            </a:r>
            <a:r>
              <a:rPr lang="it-IT" dirty="0" err="1"/>
              <a:t>R</a:t>
            </a:r>
            <a:r>
              <a:rPr lang="it-IT" baseline="-25000" dirty="0" err="1"/>
              <a:t>Sc</a:t>
            </a:r>
            <a:r>
              <a:rPr lang="it-IT" dirty="0"/>
              <a:t> - </a:t>
            </a:r>
            <a:r>
              <a:rPr lang="el-GR" dirty="0"/>
              <a:t>δ</a:t>
            </a:r>
            <a:r>
              <a:rPr lang="it-IT" dirty="0"/>
              <a:t>/2 </a:t>
            </a:r>
            <a:r>
              <a:rPr lang="it-IT" dirty="0" err="1"/>
              <a:t>is</a:t>
            </a:r>
            <a:r>
              <a:rPr lang="it-IT" dirty="0"/>
              <a:t> </a:t>
            </a:r>
            <a:r>
              <a:rPr lang="it-IT" dirty="0" err="1"/>
              <a:t>grounded</a:t>
            </a:r>
            <a:r>
              <a:rPr lang="it-IT" dirty="0"/>
              <a:t>. </a:t>
            </a:r>
            <a:r>
              <a:rPr lang="en-US" dirty="0"/>
              <a:t>The effect of the background is to increase both the kinetic and potential energy of the plasma. </a:t>
            </a:r>
          </a:p>
        </p:txBody>
      </p:sp>
    </p:spTree>
    <p:extLst>
      <p:ext uri="{BB962C8B-B14F-4D97-AF65-F5344CB8AC3E}">
        <p14:creationId xmlns:p14="http://schemas.microsoft.com/office/powerpoint/2010/main" val="1146652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CC9411-4844-EDED-2E0A-79E220EA5F07}"/>
              </a:ext>
            </a:extLst>
          </p:cNvPr>
          <p:cNvSpPr txBox="1"/>
          <p:nvPr/>
        </p:nvSpPr>
        <p:spPr>
          <a:xfrm>
            <a:off x="4524896" y="522515"/>
            <a:ext cx="3142207" cy="523220"/>
          </a:xfrm>
          <a:prstGeom prst="rect">
            <a:avLst/>
          </a:prstGeom>
          <a:noFill/>
        </p:spPr>
        <p:txBody>
          <a:bodyPr wrap="none" rtlCol="0">
            <a:spAutoFit/>
          </a:bodyPr>
          <a:lstStyle/>
          <a:p>
            <a:r>
              <a:rPr lang="it-IT" sz="2800" b="1" dirty="0"/>
              <a:t>The Black Hole </a:t>
            </a:r>
            <a:r>
              <a:rPr lang="it-IT" sz="2800" b="1" dirty="0" err="1"/>
              <a:t>limit</a:t>
            </a:r>
            <a:endParaRPr lang="en-US" sz="2800" b="1" dirty="0"/>
          </a:p>
        </p:txBody>
      </p:sp>
      <p:sp>
        <p:nvSpPr>
          <p:cNvPr id="3" name="TextBox 2">
            <a:extLst>
              <a:ext uri="{FF2B5EF4-FFF2-40B4-BE49-F238E27FC236}">
                <a16:creationId xmlns:a16="http://schemas.microsoft.com/office/drawing/2014/main" id="{AB0CE765-A0B3-D99B-FDD6-28493DC3467F}"/>
              </a:ext>
            </a:extLst>
          </p:cNvPr>
          <p:cNvSpPr txBox="1"/>
          <p:nvPr/>
        </p:nvSpPr>
        <p:spPr>
          <a:xfrm>
            <a:off x="696684" y="1393372"/>
            <a:ext cx="10798629" cy="2585323"/>
          </a:xfrm>
          <a:prstGeom prst="rect">
            <a:avLst/>
          </a:prstGeom>
          <a:noFill/>
        </p:spPr>
        <p:txBody>
          <a:bodyPr wrap="square" rtlCol="0">
            <a:spAutoFit/>
          </a:bodyPr>
          <a:lstStyle/>
          <a:p>
            <a:pPr algn="just"/>
            <a:r>
              <a:rPr lang="it-IT" dirty="0" err="1"/>
              <a:t>We</a:t>
            </a:r>
            <a:r>
              <a:rPr lang="it-IT" dirty="0"/>
              <a:t> can </a:t>
            </a:r>
            <a:r>
              <a:rPr lang="it-IT" dirty="0" err="1"/>
              <a:t>imagine</a:t>
            </a:r>
            <a:r>
              <a:rPr lang="it-IT" dirty="0"/>
              <a:t> to </a:t>
            </a:r>
            <a:r>
              <a:rPr lang="it-IT" dirty="0" err="1"/>
              <a:t>increase</a:t>
            </a:r>
            <a:r>
              <a:rPr lang="it-IT" dirty="0"/>
              <a:t> the mass    of the star so </a:t>
            </a:r>
            <a:r>
              <a:rPr lang="it-IT" dirty="0" err="1"/>
              <a:t>that</a:t>
            </a:r>
            <a:r>
              <a:rPr lang="it-IT" dirty="0"/>
              <a:t> the Schwarzschild </a:t>
            </a:r>
            <a:r>
              <a:rPr lang="it-IT" dirty="0" err="1"/>
              <a:t>radius</a:t>
            </a:r>
            <a:r>
              <a:rPr lang="it-IT" dirty="0"/>
              <a:t> </a:t>
            </a:r>
            <a:r>
              <a:rPr lang="it-IT" dirty="0" err="1"/>
              <a:t>comes</a:t>
            </a:r>
            <a:r>
              <a:rPr lang="it-IT" dirty="0"/>
              <a:t> </a:t>
            </a:r>
            <a:r>
              <a:rPr lang="it-IT" dirty="0" err="1"/>
              <a:t>closer</a:t>
            </a:r>
            <a:r>
              <a:rPr lang="it-IT" dirty="0"/>
              <a:t> to the </a:t>
            </a:r>
            <a:r>
              <a:rPr lang="it-IT" dirty="0" err="1"/>
              <a:t>atmosphere</a:t>
            </a:r>
            <a:r>
              <a:rPr lang="it-IT" dirty="0"/>
              <a:t>.</a:t>
            </a:r>
          </a:p>
          <a:p>
            <a:pPr algn="just"/>
            <a:endParaRPr lang="it-IT" dirty="0"/>
          </a:p>
          <a:p>
            <a:pPr algn="just"/>
            <a:r>
              <a:rPr lang="en-US" dirty="0"/>
              <a:t>This is case BH in Table I where the Schwarzschild radius  </a:t>
            </a:r>
          </a:p>
          <a:p>
            <a:pPr algn="just"/>
            <a:endParaRPr lang="en-US" dirty="0"/>
          </a:p>
          <a:p>
            <a:pPr algn="just"/>
            <a:r>
              <a:rPr lang="en-US" dirty="0" err="1"/>
              <a:t>R</a:t>
            </a:r>
            <a:r>
              <a:rPr lang="en-US" baseline="-25000" dirty="0" err="1"/>
              <a:t>Sc</a:t>
            </a:r>
            <a:r>
              <a:rPr lang="en-US" dirty="0"/>
              <a:t> ≈    </a:t>
            </a:r>
            <a:r>
              <a:rPr lang="en-US"/>
              <a:t>/2 .</a:t>
            </a:r>
            <a:endParaRPr lang="en-US" dirty="0"/>
          </a:p>
          <a:p>
            <a:pPr algn="just"/>
            <a:endParaRPr lang="en-US" dirty="0"/>
          </a:p>
          <a:p>
            <a:pPr algn="just"/>
            <a:r>
              <a:rPr lang="en-US" dirty="0"/>
              <a:t>We see how the geometrical potential becomes more negative and the Copson potential and the kinetic energy are diminished.</a:t>
            </a:r>
            <a:endParaRPr lang="it-IT" dirty="0"/>
          </a:p>
        </p:txBody>
      </p:sp>
      <p:pic>
        <p:nvPicPr>
          <p:cNvPr id="5" name="Picture 4">
            <a:extLst>
              <a:ext uri="{FF2B5EF4-FFF2-40B4-BE49-F238E27FC236}">
                <a16:creationId xmlns:a16="http://schemas.microsoft.com/office/drawing/2014/main" id="{361FE75B-9A32-5F8B-D429-843418AF6F64}"/>
              </a:ext>
            </a:extLst>
          </p:cNvPr>
          <p:cNvPicPr>
            <a:picLocks noChangeAspect="1"/>
          </p:cNvPicPr>
          <p:nvPr/>
        </p:nvPicPr>
        <p:blipFill>
          <a:blip r:embed="rId2"/>
          <a:stretch>
            <a:fillRect/>
          </a:stretch>
        </p:blipFill>
        <p:spPr>
          <a:xfrm>
            <a:off x="4669939" y="1503370"/>
            <a:ext cx="217780" cy="150117"/>
          </a:xfrm>
          <a:prstGeom prst="rect">
            <a:avLst/>
          </a:prstGeom>
        </p:spPr>
      </p:pic>
      <p:pic>
        <p:nvPicPr>
          <p:cNvPr id="7" name="Picture 6">
            <a:extLst>
              <a:ext uri="{FF2B5EF4-FFF2-40B4-BE49-F238E27FC236}">
                <a16:creationId xmlns:a16="http://schemas.microsoft.com/office/drawing/2014/main" id="{64C27786-CEC5-44E7-FE1F-61A4C7C0514E}"/>
              </a:ext>
            </a:extLst>
          </p:cNvPr>
          <p:cNvPicPr>
            <a:picLocks noChangeAspect="1"/>
          </p:cNvPicPr>
          <p:nvPr/>
        </p:nvPicPr>
        <p:blipFill>
          <a:blip r:embed="rId3"/>
          <a:stretch>
            <a:fillRect/>
          </a:stretch>
        </p:blipFill>
        <p:spPr>
          <a:xfrm>
            <a:off x="1246522" y="2889146"/>
            <a:ext cx="163070" cy="140406"/>
          </a:xfrm>
          <a:prstGeom prst="rect">
            <a:avLst/>
          </a:prstGeom>
        </p:spPr>
      </p:pic>
    </p:spTree>
    <p:extLst>
      <p:ext uri="{BB962C8B-B14F-4D97-AF65-F5344CB8AC3E}">
        <p14:creationId xmlns:p14="http://schemas.microsoft.com/office/powerpoint/2010/main" val="4152999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970B2D-5E27-DDC5-AACB-7E612BEBC253}"/>
              </a:ext>
            </a:extLst>
          </p:cNvPr>
          <p:cNvSpPr txBox="1"/>
          <p:nvPr/>
        </p:nvSpPr>
        <p:spPr>
          <a:xfrm>
            <a:off x="4608926" y="345897"/>
            <a:ext cx="2974148" cy="523220"/>
          </a:xfrm>
          <a:prstGeom prst="rect">
            <a:avLst/>
          </a:prstGeom>
          <a:noFill/>
        </p:spPr>
        <p:txBody>
          <a:bodyPr wrap="none" rtlCol="0">
            <a:spAutoFit/>
          </a:bodyPr>
          <a:lstStyle/>
          <a:p>
            <a:pPr algn="just"/>
            <a:r>
              <a:rPr lang="it-IT" sz="2800" b="1" dirty="0" err="1"/>
              <a:t>Numerical</a:t>
            </a:r>
            <a:r>
              <a:rPr lang="it-IT" sz="2800" b="1" dirty="0"/>
              <a:t> </a:t>
            </a:r>
            <a:r>
              <a:rPr lang="it-IT" sz="2800" b="1" dirty="0" err="1"/>
              <a:t>results</a:t>
            </a:r>
            <a:r>
              <a:rPr lang="it-IT" sz="2800" b="1" dirty="0"/>
              <a:t> I</a:t>
            </a:r>
            <a:endParaRPr lang="en-US" sz="2800" b="1" dirty="0"/>
          </a:p>
        </p:txBody>
      </p:sp>
      <p:pic>
        <p:nvPicPr>
          <p:cNvPr id="6" name="Picture 5">
            <a:extLst>
              <a:ext uri="{FF2B5EF4-FFF2-40B4-BE49-F238E27FC236}">
                <a16:creationId xmlns:a16="http://schemas.microsoft.com/office/drawing/2014/main" id="{AC805307-6E1A-052C-6298-00B4E8007E72}"/>
              </a:ext>
            </a:extLst>
          </p:cNvPr>
          <p:cNvPicPr>
            <a:picLocks noChangeAspect="1"/>
          </p:cNvPicPr>
          <p:nvPr/>
        </p:nvPicPr>
        <p:blipFill>
          <a:blip r:embed="rId2"/>
          <a:stretch>
            <a:fillRect/>
          </a:stretch>
        </p:blipFill>
        <p:spPr>
          <a:xfrm>
            <a:off x="1924505" y="828825"/>
            <a:ext cx="8342990" cy="5683278"/>
          </a:xfrm>
          <a:prstGeom prst="rect">
            <a:avLst/>
          </a:prstGeom>
        </p:spPr>
      </p:pic>
    </p:spTree>
    <p:extLst>
      <p:ext uri="{BB962C8B-B14F-4D97-AF65-F5344CB8AC3E}">
        <p14:creationId xmlns:p14="http://schemas.microsoft.com/office/powerpoint/2010/main" val="3710654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7A5028-D930-D707-68DC-0CB7D4C7DED2}"/>
              </a:ext>
            </a:extLst>
          </p:cNvPr>
          <p:cNvSpPr txBox="1"/>
          <p:nvPr/>
        </p:nvSpPr>
        <p:spPr>
          <a:xfrm>
            <a:off x="4560836" y="457200"/>
            <a:ext cx="3070328" cy="523220"/>
          </a:xfrm>
          <a:prstGeom prst="rect">
            <a:avLst/>
          </a:prstGeom>
          <a:noFill/>
        </p:spPr>
        <p:txBody>
          <a:bodyPr wrap="none" rtlCol="0">
            <a:spAutoFit/>
          </a:bodyPr>
          <a:lstStyle/>
          <a:p>
            <a:pPr algn="just"/>
            <a:r>
              <a:rPr lang="it-IT" sz="2800" b="1" dirty="0" err="1"/>
              <a:t>Numerical</a:t>
            </a:r>
            <a:r>
              <a:rPr lang="it-IT" sz="2800" b="1" dirty="0"/>
              <a:t> </a:t>
            </a:r>
            <a:r>
              <a:rPr lang="it-IT" sz="2800" b="1" dirty="0" err="1"/>
              <a:t>results</a:t>
            </a:r>
            <a:r>
              <a:rPr lang="it-IT" sz="2800" b="1" dirty="0"/>
              <a:t> II</a:t>
            </a:r>
            <a:endParaRPr lang="en-US" sz="2800" b="1" dirty="0"/>
          </a:p>
        </p:txBody>
      </p:sp>
      <p:pic>
        <p:nvPicPr>
          <p:cNvPr id="5" name="Picture 4">
            <a:extLst>
              <a:ext uri="{FF2B5EF4-FFF2-40B4-BE49-F238E27FC236}">
                <a16:creationId xmlns:a16="http://schemas.microsoft.com/office/drawing/2014/main" id="{7C6B4587-A59B-5ADC-0074-71A35C1495FA}"/>
              </a:ext>
            </a:extLst>
          </p:cNvPr>
          <p:cNvPicPr>
            <a:picLocks noChangeAspect="1"/>
          </p:cNvPicPr>
          <p:nvPr/>
        </p:nvPicPr>
        <p:blipFill>
          <a:blip r:embed="rId2"/>
          <a:stretch>
            <a:fillRect/>
          </a:stretch>
        </p:blipFill>
        <p:spPr>
          <a:xfrm>
            <a:off x="1011474" y="980420"/>
            <a:ext cx="10169051" cy="5435600"/>
          </a:xfrm>
          <a:prstGeom prst="rect">
            <a:avLst/>
          </a:prstGeom>
        </p:spPr>
      </p:pic>
    </p:spTree>
    <p:extLst>
      <p:ext uri="{BB962C8B-B14F-4D97-AF65-F5344CB8AC3E}">
        <p14:creationId xmlns:p14="http://schemas.microsoft.com/office/powerpoint/2010/main" val="2972810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5183D9-F255-C99C-4976-564D2170E0B1}"/>
              </a:ext>
            </a:extLst>
          </p:cNvPr>
          <p:cNvSpPr txBox="1"/>
          <p:nvPr/>
        </p:nvSpPr>
        <p:spPr>
          <a:xfrm>
            <a:off x="4512746" y="457200"/>
            <a:ext cx="3166508" cy="523220"/>
          </a:xfrm>
          <a:prstGeom prst="rect">
            <a:avLst/>
          </a:prstGeom>
          <a:noFill/>
        </p:spPr>
        <p:txBody>
          <a:bodyPr wrap="none" rtlCol="0">
            <a:spAutoFit/>
          </a:bodyPr>
          <a:lstStyle/>
          <a:p>
            <a:pPr algn="just"/>
            <a:r>
              <a:rPr lang="it-IT" sz="2800" b="1" dirty="0" err="1"/>
              <a:t>Numerical</a:t>
            </a:r>
            <a:r>
              <a:rPr lang="it-IT" sz="2800" b="1" dirty="0"/>
              <a:t> </a:t>
            </a:r>
            <a:r>
              <a:rPr lang="it-IT" sz="2800" b="1" dirty="0" err="1"/>
              <a:t>results</a:t>
            </a:r>
            <a:r>
              <a:rPr lang="it-IT" sz="2800" b="1" dirty="0"/>
              <a:t> III</a:t>
            </a:r>
            <a:endParaRPr lang="en-US" sz="2800" b="1" dirty="0"/>
          </a:p>
        </p:txBody>
      </p:sp>
      <p:pic>
        <p:nvPicPr>
          <p:cNvPr id="5" name="Picture 4">
            <a:extLst>
              <a:ext uri="{FF2B5EF4-FFF2-40B4-BE49-F238E27FC236}">
                <a16:creationId xmlns:a16="http://schemas.microsoft.com/office/drawing/2014/main" id="{2240A3B4-FF23-EBC4-EA66-18C9C43DA25D}"/>
              </a:ext>
            </a:extLst>
          </p:cNvPr>
          <p:cNvPicPr>
            <a:picLocks noChangeAspect="1"/>
          </p:cNvPicPr>
          <p:nvPr/>
        </p:nvPicPr>
        <p:blipFill>
          <a:blip r:embed="rId2"/>
          <a:stretch>
            <a:fillRect/>
          </a:stretch>
        </p:blipFill>
        <p:spPr>
          <a:xfrm>
            <a:off x="1852391" y="980420"/>
            <a:ext cx="8487218" cy="5573618"/>
          </a:xfrm>
          <a:prstGeom prst="rect">
            <a:avLst/>
          </a:prstGeom>
        </p:spPr>
      </p:pic>
    </p:spTree>
    <p:extLst>
      <p:ext uri="{BB962C8B-B14F-4D97-AF65-F5344CB8AC3E}">
        <p14:creationId xmlns:p14="http://schemas.microsoft.com/office/powerpoint/2010/main" val="4200422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838455"/>
      </p:ext>
    </p:extLst>
  </p:cSld>
  <p:clrMapOvr>
    <a:masterClrMapping/>
  </p:clrMapOvr>
</p:sld>
</file>

<file path=ppt/theme/theme1.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89967</TotalTime>
  <Words>2505</Words>
  <Application>Microsoft Office PowerPoint</Application>
  <PresentationFormat>Widescreen</PresentationFormat>
  <Paragraphs>107</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Personalizza struttura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riccardo fantoni</dc:creator>
  <cp:lastModifiedBy>riccardo fantoni</cp:lastModifiedBy>
  <cp:revision>302</cp:revision>
  <dcterms:created xsi:type="dcterms:W3CDTF">2024-11-27T07:28:15Z</dcterms:created>
  <dcterms:modified xsi:type="dcterms:W3CDTF">2026-09-24T19:34:20Z</dcterms:modified>
</cp:coreProperties>
</file>